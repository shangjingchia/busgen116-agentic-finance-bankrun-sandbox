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HOOK]</a:t>
            </a:r>
          </a:p>
          <a:p>
            <a:r>
              <a:t>In five years, most of us won't move our own money in a crisis. An AI agent will — checking our accounts, reading the news, deciding whether to pull our savings, in seconds, while we're asleep.</a:t>
            </a:r>
          </a:p>
          <a:p>
            <a:r>
              <a:t>So we built a sandbox to ask one question: when a bank rumor hits and the depositors are AI agents instead of people — what happens?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PREMISE]</a:t>
            </a:r>
          </a:p>
          <a:p>
            <a:r>
              <a:t>A human bank run is slow because noticing is slow. You have to see the news, sit with it, second-guess, maybe call someone — and most people aren't watching at 3am. Even SVB, which ran entirely online, took most of a day. That hesitation is part of what stops a rumor from becoming a collapse.</a:t>
            </a:r>
          </a:p>
          <a:p>
            <a:r>
              <a:t>AI delegates remove it. They watch every feed, act in seconds, and tend to reason alike. We wanted to see what that does to a run.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WHAT THIS IS]</a:t>
            </a:r>
          </a:p>
          <a:p>
            <a:r>
              <a:t>This is not a forecast. It's twelve AI agents, each making real LLM calls to decide what to do with someone's money. Each has a persona — a cautious retiree, a trader, a gig worker, an institutional treasurer. They hold deposits at two banks. A rumor hits Bank A. Each sees the rumor, sees what others do, and decides: hold, partially withdraw, or run. Everything I show you is the actual reasoning the models produced.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LIVE DEMO — switch to dashboard]</a:t>
            </a:r>
          </a:p>
          <a:p/>
          <a:p>
            <a:r>
              <a:t>LOAD A RUN (Presets page):</a:t>
            </a:r>
          </a:p>
          <a:p>
            <a:r>
              <a:t>"I'll load a run we did earlier so we're not waiting on API calls — but every decision here was made live."</a:t>
            </a:r>
          </a:p>
          <a:p>
            <a:r>
              <a:t>[CLICK] Presets -&gt; Load saved run -&gt; "Strong rumor · Bank healthy · AI speed."</a:t>
            </a:r>
          </a:p>
          <a:p>
            <a:r>
              <a:t>"Note the setup: a strong, alarming rumor about Bank A — but the bank is fine. It's solvent. No one's money is actually at risk."  [CLICK Load and view -&gt;]</a:t>
            </a:r>
          </a:p>
          <a:p/>
          <a:p>
            <a:r>
              <a:t>THE SUMMARY (Inspect page):</a:t>
            </a:r>
          </a:p>
          <a:p>
            <a:r>
              <a:t>"Look at the top strip: this is what twelve agents did with a false alarm. All twelve tried to exit — on a healthy bank."</a:t>
            </a:r>
          </a:p>
          <a:p/>
          <a:p>
            <a:r>
              <a:t>READ A MIND (spend time here):</a:t>
            </a:r>
          </a:p>
          <a:p>
            <a:r>
              <a:t>[CLICK] the first mover, or an Institutional Treasurer.</a:t>
            </a:r>
          </a:p>
          <a:p>
            <a:r>
              <a:t>"This is real model output, not a script. It weighs the withdrawal fee against the risk to principal, decides the fee is worth it, and runs — on a bank that was fine."</a:t>
            </a:r>
          </a:p>
          <a:p>
            <a:r>
              <a:t>[CLICK] a Cautious Retiree.</a:t>
            </a:r>
          </a:p>
          <a:p>
            <a:r>
              <a:t>"Same rumor, different persona — and listen to the voice. It reasons like a frightened retiree, not a trader. You can tell the personas apart without the labels. That's the heterogeneity doing real work. This is the part I'd never seen before: you can read what the AI was thinking when it decided to run."</a:t>
            </a:r>
          </a:p>
          <a:p/>
          <a:p>
            <a:r>
              <a:t>[2:50 · THREE FINDINGS — Findings page]</a:t>
            </a:r>
          </a:p>
          <a:p>
            <a:r>
              <a:t>"We ran dozens of these. Three patterns held up. Top to bottom."</a:t>
            </a:r>
          </a:p>
          <a:p/>
          <a:p>
            <a:r>
              <a:t>FINDING 1 — Same personas, different brains (THE HEADLINE):</a:t>
            </a:r>
          </a:p>
          <a:p>
            <a:r>
              <a:t>"This one surprised us. We froze everything — same personas, same rumor, same healthy bank — and changed one thing: which model decides. Withdrawing here is the wrong call; the bank is fine. With Claude, about half run. With GPT, every one runs. The model alone takes it from a scare to a full collapse — and these bars are replicated four to five runs each, so the ranking is stable. The punchline: if everyone's money is run by the same model, you don't have a diversified crowd — you have a monoculture that panics in lockstep. The model itself is a systemic risk."</a:t>
            </a:r>
          </a:p>
          <a:p/>
          <a:p>
            <a:r>
              <a:t>FINDING 2 — Speed (scroll down):</a:t>
            </a:r>
          </a:p>
          <a:p>
            <a:r>
              <a:t>"Second: speed. Same scenario at AI speed versus human speed — a 90-second delay per agent. This is the time for half the depositors to decide, not for cash to settle: about 5 seconds versus 15. Roughly three times faster. And moving money is rate-limited, so the requests arrive faster than the bank can pay. It freezes before most cash settles — only 5 of 12 got paid at AI speed, versus 11 of 12 at human speed. Machine speed doesn't move money faster — it freezes the bank faster and locks more people out."</a:t>
            </a:r>
          </a:p>
          <a:p/>
          <a:p>
            <a:r>
              <a:t>FINDING 3 — The words decide (scroll down):</a:t>
            </a:r>
          </a:p>
          <a:p>
            <a:r>
              <a:t>"Third: we changed only the wording — same bank, same credibility label. Soft language — 'some concern, worth monitoring' — and 31% leaves; the bank survives. Crisis language — 'cannot process withdrawals' — and 93% drains in under nine seconds. The words, not the credibility tag, decide whether the bank lives. (We tested more — a regulator, credibility sweeps. Happy to take those in Q&amp;A.)"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[4:20 · ANCHOR]</a:t>
            </a:r>
          </a:p>
          <a:p>
            <a:r>
              <a:t>Is this realistic? We don't model real banks. But for scale: in March 2023, Silicon Valley Bank lost $42 billion in one day — the fastest run in modern history. Why? Its depositors were all startups, advised by the same VCs, watching the same threads — but that took an unusual, tightly-correlated base. AI delegation manufactures that correlation for any bank — and adds a new axis: the same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 · TWO NUMBERS]</a:t>
            </a:r>
          </a:p>
          <a:p>
            <a:r>
              <a:t>Two numbers to remember. One: the model alone took a healthy bank from a 50% scare to a 100% run — nothing else changed. Two: AI delegation hit the halfway mark about 3x faster than humans. Homogeneous and instant — that's the combination.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[5:05 · WHY IT MATTERS]</a:t>
            </a:r>
          </a:p>
          <a:p>
            <a:r>
              <a:t>Three things for anyone building or regulating AI money-managers:</a:t>
            </a:r>
          </a:p>
          <a:p>
            <a:r>
              <a:t>1. The model is a systemic risk factor — a fleet on one model panics in lockstep.</a:t>
            </a:r>
          </a:p>
          <a:p>
            <a:r>
              <a:t>2. Speed compresses the response window to seconds — human oversight can't keep up.</a:t>
            </a:r>
          </a:p>
          <a:p>
            <a:r>
              <a:t>3. Agents react to alarming language, not stated credibility — and they're just as confident when they're wrong.</a:t>
            </a:r>
          </a:p>
          <a:p>
            <a:r>
              <a:t>This is a twelve-agent sandbox, not a forecast. The point is to find these failure modes cheaply, now — before this is how finance actually works.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[5:30 · SANDBOX + CLOSE]</a:t>
            </a:r>
          </a:p>
          <a:p>
            <a:r>
              <a:t>"We didn't hard-code these scenarios. It all runs on a sandbox where you build any run. Here's a short recording."</a:t>
            </a:r>
          </a:p>
          <a:p>
            <a:r>
              <a:t>[PLAY THE RECORDING — narrate lightly over the controls as they appear]</a:t>
            </a:r>
          </a:p>
          <a:p>
            <a:r>
              <a:t>"You describe an agent in plain English, set the bank's health and payout speed, choose the population mix, write the rumor, and optionally drop in a regulator or a counter-signal that talks the agents back. Name it, run it, reload it.</a:t>
            </a:r>
          </a:p>
          <a:p>
            <a:r>
              <a:t>(As the result lands) Same engine, different scenario. And this is really infrastructure: a regulator can stress-test its delegation rules before approving them, a fintech can test its agent before launch — and as you feed in real data on who delegates to which model, you can size the systemic risk we found here. Eventually you just type the crisis and the sandbox builds it. Twelve agents is the start — this is how anyone probes the next one. Thank you — happy to dig into any of it."</a:t>
            </a:r>
          </a:p>
          <a:p>
            <a:r>
              <a:t>[Recording: ~30-40s, end on the Inspect view. Pre-rendered — do not run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1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spcAft>
                <a:spcPts val="800"/>
              </a:spcAft>
            </a:pPr>
            <a:r>
              <a:rPr sz="1400" b="1" i="0">
                <a:solidFill>
                  <a:srgbClr val="E15759"/>
                </a:solidFill>
                <a:latin typeface="Segoe UI"/>
              </a:rPr>
              <a:t>AGENTIC FINANCE · STRESS SANDBOX</a:t>
            </a:r>
          </a:p>
        </p:txBody>
      </p:sp>
      <p:sp>
        <p:nvSpPr>
          <p:cNvPr id="3" name="TextBox 2"/>
          <p:cNvSpPr txBox="1"/>
          <p:nvPr/>
        </p:nvSpPr>
        <p:spPr>
          <a:xfrm>
            <a:off x="822960" y="1645920"/>
            <a:ext cx="10515600" cy="2377440"/>
          </a:xfrm>
          <a:prstGeom prst="rect">
            <a:avLst/>
          </a:prstGeom>
          <a:noFill/>
        </p:spPr>
        <p:txBody>
          <a:bodyPr wrap="square">
            <a:spAutoFit/>
          </a:bodyPr>
          <a:lstStyle/>
          <a:p>
            <a:pPr algn="l">
              <a:spcAft>
                <a:spcPts val="0"/>
              </a:spcAft>
            </a:pPr>
            <a:r>
              <a:rPr sz="5400" b="1" i="0">
                <a:solidFill>
                  <a:srgbClr val="FFFFFF"/>
                </a:solidFill>
                <a:latin typeface="Segoe UI"/>
              </a:rPr>
              <a:t>When your money runs at
</a:t>
            </a:r>
          </a:p>
          <a:p>
            <a:pPr algn="l">
              <a:spcAft>
                <a:spcPts val="0"/>
              </a:spcAft>
            </a:pPr>
            <a:r>
              <a:rPr sz="5400" b="1" i="0">
                <a:solidFill>
                  <a:srgbClr val="E15759"/>
                </a:solidFill>
                <a:latin typeface="Segoe UI"/>
              </a:rPr>
              <a:t>machine speed</a:t>
            </a:r>
          </a:p>
        </p:txBody>
      </p:sp>
      <p:sp>
        <p:nvSpPr>
          <p:cNvPr id="4" name="TextBox 3"/>
          <p:cNvSpPr txBox="1"/>
          <p:nvPr/>
        </p:nvSpPr>
        <p:spPr>
          <a:xfrm>
            <a:off x="822960" y="4206240"/>
            <a:ext cx="10515600" cy="1097280"/>
          </a:xfrm>
          <a:prstGeom prst="rect">
            <a:avLst/>
          </a:prstGeom>
          <a:noFill/>
        </p:spPr>
        <p:txBody>
          <a:bodyPr wrap="square">
            <a:spAutoFit/>
          </a:bodyPr>
          <a:lstStyle/>
          <a:p>
            <a:pPr algn="l">
              <a:spcAft>
                <a:spcPts val="800"/>
              </a:spcAft>
            </a:pPr>
            <a:r>
              <a:rPr sz="2200" b="0" i="0">
                <a:solidFill>
                  <a:srgbClr val="9AA0B5"/>
                </a:solidFill>
                <a:latin typeface="Segoe UI"/>
              </a:rPr>
              <a:t>A sandbox for AI-delegated bank runs — 12 LLM agents, real decisions, one rumor.</a:t>
            </a:r>
          </a:p>
        </p:txBody>
      </p:sp>
      <p:sp>
        <p:nvSpPr>
          <p:cNvPr id="5" name="TextBox 4"/>
          <p:cNvSpPr txBox="1"/>
          <p:nvPr/>
        </p:nvSpPr>
        <p:spPr>
          <a:xfrm>
            <a:off x="822960" y="6355080"/>
            <a:ext cx="8229600" cy="365760"/>
          </a:xfrm>
          <a:prstGeom prst="rect">
            <a:avLst/>
          </a:prstGeom>
          <a:noFill/>
        </p:spPr>
        <p:txBody>
          <a:bodyPr wrap="square">
            <a:spAutoFit/>
          </a:bodyPr>
          <a:lstStyle/>
          <a:p>
            <a:pPr algn="l">
              <a:spcAft>
                <a:spcPts val="800"/>
              </a:spcAft>
            </a:pPr>
            <a:r>
              <a:rPr sz="1200" b="0" i="0">
                <a:solidFill>
                  <a:srgbClr val="5A5B70"/>
                </a:solidFill>
                <a:latin typeface="Segoe UI"/>
              </a:rPr>
              <a:t>AI Bank Run Sandbox</a:t>
            </a:r>
          </a:p>
        </p:txBody>
      </p:sp>
      <p:sp>
        <p:nvSpPr>
          <p:cNvPr id="6" name="TextBox 5"/>
          <p:cNvSpPr txBox="1"/>
          <p:nvPr/>
        </p:nvSpPr>
        <p:spPr>
          <a:xfrm>
            <a:off x="10424160" y="6355080"/>
            <a:ext cx="914400" cy="365760"/>
          </a:xfrm>
          <a:prstGeom prst="rect">
            <a:avLst/>
          </a:prstGeom>
          <a:noFill/>
        </p:spPr>
        <p:txBody>
          <a:bodyPr wrap="square">
            <a:spAutoFit/>
          </a:bodyPr>
          <a:lstStyle/>
          <a:p>
            <a:pPr algn="r">
              <a:spcAft>
                <a:spcPts val="800"/>
              </a:spcAft>
            </a:pPr>
            <a:r>
              <a:rPr sz="1200" b="0" i="0">
                <a:solidFill>
                  <a:srgbClr val="5A5B70"/>
                </a:solidFill>
                <a:latin typeface="Segoe UI"/>
              </a:rPr>
              <a:t>Live demo follows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18"/>
        </a:solidFill>
        <a:effectLst/>
      </p:bgPr>
    </p:bg>
    <p:spTree>
      <p:nvGrpSpPr>
        <p:cNvPr id="1" name=""/>
        <p:cNvGrpSpPr/>
        <p:nvPr/>
      </p:nvGrpSpPr>
      <p:grpSpPr/>
      <p:sp>
        <p:nvSpPr>
          <p:cNvPr id="2" name="TextBox 1"/>
          <p:cNvSpPr txBox="1"/>
          <p:nvPr/>
        </p:nvSpPr>
        <p:spPr>
          <a:xfrm>
            <a:off x="822960" y="822960"/>
            <a:ext cx="10515600" cy="1280160"/>
          </a:xfrm>
          <a:prstGeom prst="rect">
            <a:avLst/>
          </a:prstGeom>
          <a:noFill/>
        </p:spPr>
        <p:txBody>
          <a:bodyPr wrap="square">
            <a:spAutoFit/>
          </a:bodyPr>
          <a:lstStyle/>
          <a:p>
            <a:pPr algn="l">
              <a:lnSpc>
                <a:spcPct val="110000"/>
              </a:lnSpc>
              <a:spcAft>
                <a:spcPts val="800"/>
              </a:spcAft>
            </a:pPr>
            <a:r>
              <a:rPr sz="3600" b="1" i="0">
                <a:solidFill>
                  <a:srgbClr val="FFFFFF"/>
                </a:solidFill>
                <a:latin typeface="Segoe UI"/>
              </a:rPr>
              <a:t>In 5 years, </a:t>
            </a:r>
            <a:r>
              <a:rPr sz="3600" b="1" i="0">
                <a:solidFill>
                  <a:srgbClr val="E15759"/>
                </a:solidFill>
                <a:latin typeface="Segoe UI"/>
              </a:rPr>
              <a:t>an agent</a:t>
            </a:r>
            <a:r>
              <a:rPr sz="3600" b="1" i="0">
                <a:solidFill>
                  <a:srgbClr val="FFFFFF"/>
                </a:solidFill>
                <a:latin typeface="Segoe UI"/>
              </a:rPr>
              <a:t> moves your money — not you.</a:t>
            </a:r>
          </a:p>
        </p:txBody>
      </p:sp>
      <p:sp>
        <p:nvSpPr>
          <p:cNvPr id="3" name="TextBox 2"/>
          <p:cNvSpPr txBox="1"/>
          <p:nvPr/>
        </p:nvSpPr>
        <p:spPr>
          <a:xfrm>
            <a:off x="822960" y="2468880"/>
            <a:ext cx="10515600" cy="3657600"/>
          </a:xfrm>
          <a:prstGeom prst="rect">
            <a:avLst/>
          </a:prstGeom>
          <a:noFill/>
        </p:spPr>
        <p:txBody>
          <a:bodyPr wrap="square">
            <a:spAutoFit/>
          </a:bodyPr>
          <a:lstStyle/>
          <a:p>
            <a:pPr algn="l">
              <a:lnSpc>
                <a:spcPct val="135000"/>
              </a:lnSpc>
              <a:spcAft>
                <a:spcPts val="1600"/>
              </a:spcAft>
            </a:pPr>
            <a:r>
              <a:rPr sz="2200" b="0" i="0">
                <a:solidFill>
                  <a:srgbClr val="FFFFFF"/>
                </a:solidFill>
                <a:latin typeface="Segoe UI"/>
              </a:rPr>
              <a:t>A human bank run is slow because of </a:t>
            </a:r>
            <a:r>
              <a:rPr sz="2200" b="0" i="0">
                <a:solidFill>
                  <a:srgbClr val="76B7B2"/>
                </a:solidFill>
                <a:latin typeface="Segoe UI"/>
              </a:rPr>
              <a:t>attention and hesitation</a:t>
            </a:r>
            <a:r>
              <a:rPr sz="2200" b="0" i="0">
                <a:solidFill>
                  <a:srgbClr val="FFFFFF"/>
                </a:solidFill>
                <a:latin typeface="Segoe UI"/>
              </a:rPr>
              <a:t> — you notice, second-guess, decide. Most people aren't watching at 3am.</a:t>
            </a:r>
          </a:p>
          <a:p>
            <a:pPr algn="l">
              <a:lnSpc>
                <a:spcPct val="135000"/>
              </a:lnSpc>
              <a:spcAft>
                <a:spcPts val="1600"/>
              </a:spcAft>
            </a:pPr>
            <a:r>
              <a:rPr sz="2200" b="0" i="0">
                <a:solidFill>
                  <a:srgbClr val="D7D8E6"/>
                </a:solidFill>
                <a:latin typeface="Segoe UI"/>
              </a:rPr>
              <a:t>Even SVB, which ran entirely online, took most of a day — that hesitation is part of what stops a rumor from becoming a collapse.</a:t>
            </a:r>
          </a:p>
          <a:p>
            <a:pPr algn="l">
              <a:lnSpc>
                <a:spcPct val="135000"/>
              </a:lnSpc>
              <a:spcAft>
                <a:spcPts val="2200"/>
              </a:spcAft>
            </a:pPr>
            <a:r>
              <a:rPr sz="2200" b="0" i="0">
                <a:solidFill>
                  <a:srgbClr val="D7D8E6"/>
                </a:solidFill>
                <a:latin typeface="Segoe UI"/>
              </a:rPr>
              <a:t>AI delegates remove it — they watch every feed, act in seconds, day or night, and tend to reason alike.</a:t>
            </a:r>
          </a:p>
          <a:p>
            <a:pPr algn="l">
              <a:spcAft>
                <a:spcPts val="800"/>
              </a:spcAft>
            </a:pPr>
            <a:r>
              <a:rPr sz="2600" b="1" i="0">
                <a:solidFill>
                  <a:srgbClr val="E15759"/>
                </a:solidFill>
                <a:latin typeface="Segoe UI"/>
              </a:rPr>
              <a:t>What does that do to a run?</a:t>
            </a:r>
          </a:p>
        </p:txBody>
      </p:sp>
      <p:sp>
        <p:nvSpPr>
          <p:cNvPr id="4" name="TextBox 3"/>
          <p:cNvSpPr txBox="1"/>
          <p:nvPr/>
        </p:nvSpPr>
        <p:spPr>
          <a:xfrm>
            <a:off x="822960" y="6355080"/>
            <a:ext cx="8229600" cy="365760"/>
          </a:xfrm>
          <a:prstGeom prst="rect">
            <a:avLst/>
          </a:prstGeom>
          <a:noFill/>
        </p:spPr>
        <p:txBody>
          <a:bodyPr wrap="square">
            <a:spAutoFit/>
          </a:bodyPr>
          <a:lstStyle/>
          <a:p>
            <a:pPr algn="l">
              <a:spcAft>
                <a:spcPts val="800"/>
              </a:spcAft>
            </a:pPr>
            <a:r>
              <a:rPr sz="1200" b="0" i="0">
                <a:solidFill>
                  <a:srgbClr val="5A5B70"/>
                </a:solidFill>
                <a:latin typeface="Segoe UI"/>
              </a:rPr>
              <a:t>The premise</a:t>
            </a:r>
          </a:p>
        </p:txBody>
      </p:sp>
      <p:sp>
        <p:nvSpPr>
          <p:cNvPr id="5" name="TextBox 4"/>
          <p:cNvSpPr txBox="1"/>
          <p:nvPr/>
        </p:nvSpPr>
        <p:spPr>
          <a:xfrm>
            <a:off x="10424160" y="6355080"/>
            <a:ext cx="914400" cy="365760"/>
          </a:xfrm>
          <a:prstGeom prst="rect">
            <a:avLst/>
          </a:prstGeom>
          <a:noFill/>
        </p:spPr>
        <p:txBody>
          <a:bodyPr wrap="square">
            <a:spAutoFit/>
          </a:bodyPr>
          <a:lstStyle/>
          <a:p>
            <a:pPr algn="r">
              <a:spcAft>
                <a:spcPts val="800"/>
              </a:spcAft>
            </a:pPr>
            <a:r>
              <a:rPr sz="1200" b="0" i="0">
                <a:solidFill>
                  <a:srgbClr val="5A5B7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18"/>
        </a:solidFill>
        <a:effectLst/>
      </p:bgPr>
    </p:bg>
    <p:spTree>
      <p:nvGrpSpPr>
        <p:cNvPr id="1" name=""/>
        <p:cNvGrpSpPr/>
        <p:nvPr/>
      </p:nvGrpSpPr>
      <p:grpSpPr/>
      <p:sp>
        <p:nvSpPr>
          <p:cNvPr id="2" name="TextBox 1"/>
          <p:cNvSpPr txBox="1"/>
          <p:nvPr/>
        </p:nvSpPr>
        <p:spPr>
          <a:xfrm>
            <a:off x="822960" y="731520"/>
            <a:ext cx="10515600" cy="914400"/>
          </a:xfrm>
          <a:prstGeom prst="rect">
            <a:avLst/>
          </a:prstGeom>
          <a:noFill/>
        </p:spPr>
        <p:txBody>
          <a:bodyPr wrap="square">
            <a:spAutoFit/>
          </a:bodyPr>
          <a:lstStyle/>
          <a:p>
            <a:pPr algn="l">
              <a:spcAft>
                <a:spcPts val="800"/>
              </a:spcAft>
            </a:pPr>
            <a:r>
              <a:rPr sz="3600" b="1" i="0">
                <a:solidFill>
                  <a:srgbClr val="FFFFFF"/>
                </a:solidFill>
                <a:latin typeface="Segoe UI"/>
              </a:rPr>
              <a:t>The sandbox</a:t>
            </a:r>
          </a:p>
        </p:txBody>
      </p:sp>
      <p:sp>
        <p:nvSpPr>
          <p:cNvPr id="3" name="TextBox 2"/>
          <p:cNvSpPr txBox="1"/>
          <p:nvPr/>
        </p:nvSpPr>
        <p:spPr>
          <a:xfrm>
            <a:off x="822960" y="1645920"/>
            <a:ext cx="10515600" cy="822960"/>
          </a:xfrm>
          <a:prstGeom prst="rect">
            <a:avLst/>
          </a:prstGeom>
          <a:noFill/>
        </p:spPr>
        <p:txBody>
          <a:bodyPr wrap="square">
            <a:spAutoFit/>
          </a:bodyPr>
          <a:lstStyle/>
          <a:p>
            <a:pPr algn="l">
              <a:lnSpc>
                <a:spcPct val="130000"/>
              </a:lnSpc>
              <a:spcAft>
                <a:spcPts val="800"/>
              </a:spcAft>
            </a:pPr>
            <a:r>
              <a:rPr sz="2200" b="0" i="0">
                <a:solidFill>
                  <a:srgbClr val="FFFFFF"/>
                </a:solidFill>
                <a:latin typeface="Segoe UI"/>
              </a:rPr>
              <a:t>Not a forecast. Not an equation. 12 AI agents making </a:t>
            </a:r>
            <a:r>
              <a:rPr sz="2200" b="0" i="0">
                <a:solidFill>
                  <a:srgbClr val="76B7B2"/>
                </a:solidFill>
                <a:latin typeface="Segoe UI"/>
              </a:rPr>
              <a:t>real LLM calls</a:t>
            </a:r>
            <a:r>
              <a:rPr sz="2200" b="0" i="0">
                <a:solidFill>
                  <a:srgbClr val="FFFFFF"/>
                </a:solidFill>
                <a:latin typeface="Segoe UI"/>
              </a:rPr>
              <a:t> with simulated money.</a:t>
            </a:r>
          </a:p>
        </p:txBody>
      </p:sp>
      <p:sp>
        <p:nvSpPr>
          <p:cNvPr id="4" name="TextBox 3"/>
          <p:cNvSpPr txBox="1"/>
          <p:nvPr/>
        </p:nvSpPr>
        <p:spPr>
          <a:xfrm>
            <a:off x="822960" y="2560320"/>
            <a:ext cx="10515600" cy="731520"/>
          </a:xfrm>
          <a:prstGeom prst="rect">
            <a:avLst/>
          </a:prstGeom>
          <a:noFill/>
        </p:spPr>
        <p:txBody>
          <a:bodyPr wrap="square">
            <a:spAutoFit/>
          </a:bodyPr>
          <a:lstStyle/>
          <a:p>
            <a:pPr algn="l">
              <a:spcAft>
                <a:spcPts val="800"/>
              </a:spcAft>
            </a:pPr>
            <a:r>
              <a:rPr sz="1800" b="0" i="0">
                <a:solidFill>
                  <a:srgbClr val="D7D8E6"/>
                </a:solidFill>
                <a:latin typeface="Segoe UI"/>
              </a:rPr>
              <a:t>🧓 Cautious retiree     📈 Aggressive trader     🚗 Gig worker     🏛️ Institutional treasurer</a:t>
            </a:r>
          </a:p>
        </p:txBody>
      </p:sp>
      <p:sp>
        <p:nvSpPr>
          <p:cNvPr id="5" name="TextBox 4"/>
          <p:cNvSpPr txBox="1"/>
          <p:nvPr/>
        </p:nvSpPr>
        <p:spPr>
          <a:xfrm>
            <a:off x="822960" y="3383280"/>
            <a:ext cx="10515600" cy="2743200"/>
          </a:xfrm>
          <a:prstGeom prst="rect">
            <a:avLst/>
          </a:prstGeom>
          <a:noFill/>
        </p:spPr>
        <p:txBody>
          <a:bodyPr wrap="square">
            <a:spAutoFit/>
          </a:bodyPr>
          <a:lstStyle/>
          <a:p>
            <a:pPr algn="l">
              <a:lnSpc>
                <a:spcPct val="125000"/>
              </a:lnSpc>
              <a:spcAft>
                <a:spcPts val="1200"/>
              </a:spcAft>
            </a:pPr>
            <a:r>
              <a:rPr sz="2000" b="0" i="0">
                <a:solidFill>
                  <a:srgbClr val="E15759"/>
                </a:solidFill>
                <a:latin typeface="Segoe UI"/>
              </a:rPr>
              <a:t>•  </a:t>
            </a:r>
            <a:r>
              <a:rPr sz="2000" b="0" i="0">
                <a:solidFill>
                  <a:srgbClr val="D7D8E6"/>
                </a:solidFill>
                <a:latin typeface="Segoe UI"/>
              </a:rPr>
              <a:t>Two banks. A rumor hits Bank A — with tunable credibility.</a:t>
            </a:r>
          </a:p>
          <a:p>
            <a:pPr algn="l">
              <a:lnSpc>
                <a:spcPct val="125000"/>
              </a:lnSpc>
              <a:spcAft>
                <a:spcPts val="1200"/>
              </a:spcAft>
            </a:pPr>
            <a:r>
              <a:rPr sz="2000" b="0" i="0">
                <a:solidFill>
                  <a:srgbClr val="E15759"/>
                </a:solidFill>
                <a:latin typeface="Segoe UI"/>
              </a:rPr>
              <a:t>•  </a:t>
            </a:r>
            <a:r>
              <a:rPr sz="2000" b="0" i="0">
                <a:solidFill>
                  <a:srgbClr val="D7D8E6"/>
                </a:solidFill>
                <a:latin typeface="Segoe UI"/>
              </a:rPr>
              <a:t>Each agent sees the rumor, sees what peers do, and reasons with stakes.</a:t>
            </a:r>
          </a:p>
          <a:p>
            <a:pPr algn="l">
              <a:lnSpc>
                <a:spcPct val="125000"/>
              </a:lnSpc>
              <a:spcAft>
                <a:spcPts val="1200"/>
              </a:spcAft>
            </a:pPr>
            <a:r>
              <a:rPr sz="2000" b="0" i="0">
                <a:solidFill>
                  <a:srgbClr val="E15759"/>
                </a:solidFill>
                <a:latin typeface="Segoe UI"/>
              </a:rPr>
              <a:t>•  It decides: </a:t>
            </a:r>
            <a:r>
              <a:rPr sz="2000" b="0" i="0">
                <a:solidFill>
                  <a:srgbClr val="76B7B2"/>
                </a:solidFill>
                <a:latin typeface="Segoe UI"/>
              </a:rPr>
              <a:t>hold · partially withdraw · run.</a:t>
            </a:r>
          </a:p>
          <a:p>
            <a:pPr algn="l">
              <a:lnSpc>
                <a:spcPct val="125000"/>
              </a:lnSpc>
              <a:spcAft>
                <a:spcPts val="1200"/>
              </a:spcAft>
            </a:pPr>
            <a:r>
              <a:rPr sz="2000" b="0" i="0">
                <a:solidFill>
                  <a:srgbClr val="E15759"/>
                </a:solidFill>
                <a:latin typeface="Segoe UI"/>
              </a:rPr>
              <a:t>•  </a:t>
            </a:r>
            <a:r>
              <a:rPr sz="2000" b="0" i="0">
                <a:solidFill>
                  <a:srgbClr val="D7D8E6"/>
                </a:solidFill>
                <a:latin typeface="Segoe UI"/>
              </a:rPr>
              <a:t>We watch the reasoning — verbatim — and the cascade unfold.</a:t>
            </a:r>
          </a:p>
        </p:txBody>
      </p:sp>
      <p:sp>
        <p:nvSpPr>
          <p:cNvPr id="6" name="TextBox 5"/>
          <p:cNvSpPr txBox="1"/>
          <p:nvPr/>
        </p:nvSpPr>
        <p:spPr>
          <a:xfrm>
            <a:off x="822960" y="6355080"/>
            <a:ext cx="8229600" cy="365760"/>
          </a:xfrm>
          <a:prstGeom prst="rect">
            <a:avLst/>
          </a:prstGeom>
          <a:noFill/>
        </p:spPr>
        <p:txBody>
          <a:bodyPr wrap="square">
            <a:spAutoFit/>
          </a:bodyPr>
          <a:lstStyle/>
          <a:p>
            <a:pPr algn="l">
              <a:spcAft>
                <a:spcPts val="800"/>
              </a:spcAft>
            </a:pPr>
            <a:r>
              <a:rPr sz="1200" b="0" i="0">
                <a:solidFill>
                  <a:srgbClr val="5A5B70"/>
                </a:solidFill>
                <a:latin typeface="Segoe UI"/>
              </a:rPr>
              <a:t>How it works</a:t>
            </a:r>
          </a:p>
        </p:txBody>
      </p:sp>
      <p:sp>
        <p:nvSpPr>
          <p:cNvPr id="7" name="TextBox 6"/>
          <p:cNvSpPr txBox="1"/>
          <p:nvPr/>
        </p:nvSpPr>
        <p:spPr>
          <a:xfrm>
            <a:off x="10424160" y="6355080"/>
            <a:ext cx="914400" cy="365760"/>
          </a:xfrm>
          <a:prstGeom prst="rect">
            <a:avLst/>
          </a:prstGeom>
          <a:noFill/>
        </p:spPr>
        <p:txBody>
          <a:bodyPr wrap="square">
            <a:spAutoFit/>
          </a:bodyPr>
          <a:lstStyle/>
          <a:p>
            <a:pPr algn="r">
              <a:spcAft>
                <a:spcPts val="800"/>
              </a:spcAft>
            </a:pPr>
            <a:r>
              <a:rPr sz="1200" b="0" i="0">
                <a:solidFill>
                  <a:srgbClr val="5A5B7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41C2E"/>
        </a:solidFill>
        <a:effectLst/>
      </p:bgPr>
    </p:bg>
    <p:spTree>
      <p:nvGrpSpPr>
        <p:cNvPr id="1" name=""/>
        <p:cNvGrpSpPr/>
        <p:nvPr/>
      </p:nvGrpSpPr>
      <p:grpSpPr/>
      <p:sp>
        <p:nvSpPr>
          <p:cNvPr id="2" name="TextBox 1"/>
          <p:cNvSpPr txBox="1"/>
          <p:nvPr/>
        </p:nvSpPr>
        <p:spPr>
          <a:xfrm>
            <a:off x="822960" y="1828800"/>
            <a:ext cx="10515600" cy="548640"/>
          </a:xfrm>
          <a:prstGeom prst="rect">
            <a:avLst/>
          </a:prstGeom>
          <a:noFill/>
        </p:spPr>
        <p:txBody>
          <a:bodyPr wrap="square">
            <a:spAutoFit/>
          </a:bodyPr>
          <a:lstStyle/>
          <a:p>
            <a:pPr algn="ctr">
              <a:spcAft>
                <a:spcPts val="800"/>
              </a:spcAft>
            </a:pPr>
            <a:r>
              <a:rPr sz="1600" b="1" i="0">
                <a:solidFill>
                  <a:srgbClr val="E15759"/>
                </a:solidFill>
                <a:latin typeface="Segoe UI"/>
              </a:rPr>
              <a:t>SWITCH TO DASHBOARD</a:t>
            </a:r>
          </a:p>
        </p:txBody>
      </p:sp>
      <p:sp>
        <p:nvSpPr>
          <p:cNvPr id="3" name="TextBox 2"/>
          <p:cNvSpPr txBox="1"/>
          <p:nvPr/>
        </p:nvSpPr>
        <p:spPr>
          <a:xfrm>
            <a:off x="822960" y="2468880"/>
            <a:ext cx="10515600" cy="1645920"/>
          </a:xfrm>
          <a:prstGeom prst="rect">
            <a:avLst/>
          </a:prstGeom>
          <a:noFill/>
        </p:spPr>
        <p:txBody>
          <a:bodyPr wrap="square">
            <a:spAutoFit/>
          </a:bodyPr>
          <a:lstStyle/>
          <a:p>
            <a:pPr algn="ctr">
              <a:spcAft>
                <a:spcPts val="800"/>
              </a:spcAft>
            </a:pPr>
            <a:r>
              <a:rPr sz="7200" b="1" i="0">
                <a:solidFill>
                  <a:srgbClr val="FFFFFF"/>
                </a:solidFill>
                <a:latin typeface="Segoe UI"/>
              </a:rPr>
              <a:t>▶ LIVE DEMO</a:t>
            </a:r>
          </a:p>
        </p:txBody>
      </p:sp>
      <p:sp>
        <p:nvSpPr>
          <p:cNvPr id="4" name="TextBox 3"/>
          <p:cNvSpPr txBox="1"/>
          <p:nvPr/>
        </p:nvSpPr>
        <p:spPr>
          <a:xfrm>
            <a:off x="822960" y="4297680"/>
            <a:ext cx="10515600" cy="731520"/>
          </a:xfrm>
          <a:prstGeom prst="rect">
            <a:avLst/>
          </a:prstGeom>
          <a:noFill/>
        </p:spPr>
        <p:txBody>
          <a:bodyPr wrap="square">
            <a:spAutoFit/>
          </a:bodyPr>
          <a:lstStyle/>
          <a:p>
            <a:pPr algn="ctr">
              <a:spcAft>
                <a:spcPts val="800"/>
              </a:spcAft>
            </a:pPr>
            <a:r>
              <a:rPr sz="2200" b="0" i="0">
                <a:solidFill>
                  <a:srgbClr val="9AA0B5"/>
                </a:solidFill>
                <a:latin typeface="Segoe UI"/>
              </a:rPr>
              <a:t>Run a scenario · read an AI's mind · walk the findings</a:t>
            </a:r>
          </a:p>
        </p:txBody>
      </p:sp>
      <p:sp>
        <p:nvSpPr>
          <p:cNvPr id="5" name="TextBox 4"/>
          <p:cNvSpPr txBox="1"/>
          <p:nvPr/>
        </p:nvSpPr>
        <p:spPr>
          <a:xfrm>
            <a:off x="822960" y="6355080"/>
            <a:ext cx="8229600" cy="365760"/>
          </a:xfrm>
          <a:prstGeom prst="rect">
            <a:avLst/>
          </a:prstGeom>
          <a:noFill/>
        </p:spPr>
        <p:txBody>
          <a:bodyPr wrap="square">
            <a:spAutoFit/>
          </a:bodyPr>
          <a:lstStyle/>
          <a:p>
            <a:pPr algn="l">
              <a:spcAft>
                <a:spcPts val="800"/>
              </a:spcAft>
            </a:pPr>
            <a:r>
              <a:rPr sz="1200" b="0" i="0">
                <a:solidFill>
                  <a:srgbClr val="5A5B70"/>
                </a:solidFill>
                <a:latin typeface="Segoe UI"/>
              </a:rPr>
              <a:t>localhost:8501</a:t>
            </a:r>
          </a:p>
        </p:txBody>
      </p:sp>
      <p:sp>
        <p:nvSpPr>
          <p:cNvPr id="6" name="TextBox 5"/>
          <p:cNvSpPr txBox="1"/>
          <p:nvPr/>
        </p:nvSpPr>
        <p:spPr>
          <a:xfrm>
            <a:off x="10424160" y="6355080"/>
            <a:ext cx="914400" cy="365760"/>
          </a:xfrm>
          <a:prstGeom prst="rect">
            <a:avLst/>
          </a:prstGeom>
          <a:noFill/>
        </p:spPr>
        <p:txBody>
          <a:bodyPr wrap="square">
            <a:spAutoFit/>
          </a:bodyPr>
          <a:lstStyle/>
          <a:p>
            <a:pPr algn="r">
              <a:spcAft>
                <a:spcPts val="800"/>
              </a:spcAft>
            </a:pPr>
            <a:r>
              <a:rPr sz="1200" b="0" i="0">
                <a:solidFill>
                  <a:srgbClr val="5A5B70"/>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1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spcAft>
                <a:spcPts val="800"/>
              </a:spcAft>
            </a:pPr>
            <a:r>
              <a:rPr sz="1400" b="1" i="0">
                <a:solidFill>
                  <a:srgbClr val="E15759"/>
                </a:solidFill>
                <a:latin typeface="Segoe UI"/>
              </a:rPr>
              <a:t>FOR SCALE — NOT A MODEL OF IT</a:t>
            </a:r>
          </a:p>
        </p:txBody>
      </p:sp>
      <p:sp>
        <p:nvSpPr>
          <p:cNvPr id="3" name="TextBox 2"/>
          <p:cNvSpPr txBox="1"/>
          <p:nvPr/>
        </p:nvSpPr>
        <p:spPr>
          <a:xfrm>
            <a:off x="822960" y="1097280"/>
            <a:ext cx="10515600" cy="914400"/>
          </a:xfrm>
          <a:prstGeom prst="rect">
            <a:avLst/>
          </a:prstGeom>
          <a:noFill/>
        </p:spPr>
        <p:txBody>
          <a:bodyPr wrap="square">
            <a:spAutoFit/>
          </a:bodyPr>
          <a:lstStyle/>
          <a:p>
            <a:pPr algn="l">
              <a:spcAft>
                <a:spcPts val="800"/>
              </a:spcAft>
            </a:pPr>
            <a:r>
              <a:rPr sz="3400" b="1" i="0">
                <a:solidFill>
                  <a:srgbClr val="FFFFFF"/>
                </a:solidFill>
                <a:latin typeface="Segoe UI"/>
              </a:rPr>
              <a:t>Silicon Valley Bank, March 2023</a:t>
            </a:r>
          </a:p>
        </p:txBody>
      </p:sp>
      <p:sp>
        <p:nvSpPr>
          <p:cNvPr id="4" name="TextBox 3"/>
          <p:cNvSpPr txBox="1"/>
          <p:nvPr/>
        </p:nvSpPr>
        <p:spPr>
          <a:xfrm>
            <a:off x="822960" y="1920240"/>
            <a:ext cx="10515600" cy="1463040"/>
          </a:xfrm>
          <a:prstGeom prst="rect">
            <a:avLst/>
          </a:prstGeom>
          <a:noFill/>
        </p:spPr>
        <p:txBody>
          <a:bodyPr wrap="square">
            <a:spAutoFit/>
          </a:bodyPr>
          <a:lstStyle/>
          <a:p>
            <a:pPr algn="l">
              <a:spcAft>
                <a:spcPts val="800"/>
              </a:spcAft>
            </a:pPr>
            <a:r>
              <a:rPr sz="8800" b="1" i="0">
                <a:solidFill>
                  <a:srgbClr val="E15759"/>
                </a:solidFill>
                <a:latin typeface="Segoe UI"/>
              </a:rPr>
              <a:t>$42B</a:t>
            </a:r>
          </a:p>
        </p:txBody>
      </p:sp>
      <p:sp>
        <p:nvSpPr>
          <p:cNvPr id="5" name="TextBox 4"/>
          <p:cNvSpPr txBox="1"/>
          <p:nvPr/>
        </p:nvSpPr>
        <p:spPr>
          <a:xfrm>
            <a:off x="822960" y="3566160"/>
            <a:ext cx="10515600" cy="2377440"/>
          </a:xfrm>
          <a:prstGeom prst="rect">
            <a:avLst/>
          </a:prstGeom>
          <a:noFill/>
        </p:spPr>
        <p:txBody>
          <a:bodyPr wrap="square">
            <a:spAutoFit/>
          </a:bodyPr>
          <a:lstStyle/>
          <a:p>
            <a:pPr algn="l">
              <a:lnSpc>
                <a:spcPct val="130000"/>
              </a:lnSpc>
              <a:spcAft>
                <a:spcPts val="1600"/>
              </a:spcAft>
            </a:pPr>
            <a:r>
              <a:rPr sz="2400" b="0" i="0">
                <a:solidFill>
                  <a:srgbClr val="FFFFFF"/>
                </a:solidFill>
                <a:latin typeface="Segoe UI"/>
              </a:rPr>
              <a:t>withdrawn in a single day — the fastest run in modern history.</a:t>
            </a:r>
          </a:p>
          <a:p>
            <a:pPr algn="l">
              <a:lnSpc>
                <a:spcPct val="130000"/>
              </a:lnSpc>
              <a:spcAft>
                <a:spcPts val="1600"/>
              </a:spcAft>
            </a:pPr>
            <a:r>
              <a:rPr sz="2200" b="0" i="0">
                <a:solidFill>
                  <a:srgbClr val="D7D8E6"/>
                </a:solidFill>
                <a:latin typeface="Segoe UI"/>
              </a:rPr>
              <a:t>Why so fast? Depositors were all startups, advised by the same VCs, watching the same threads — </a:t>
            </a:r>
            <a:r>
              <a:rPr sz="2200" b="0" i="0">
                <a:solidFill>
                  <a:srgbClr val="76B7B2"/>
                </a:solidFill>
                <a:latin typeface="Segoe UI"/>
              </a:rPr>
              <a:t>correlated, networked, instant.</a:t>
            </a:r>
          </a:p>
          <a:p>
            <a:pPr algn="l">
              <a:spcAft>
                <a:spcPts val="800"/>
              </a:spcAft>
            </a:pPr>
            <a:r>
              <a:rPr sz="2400" b="1" i="0">
                <a:solidFill>
                  <a:srgbClr val="E15759"/>
                </a:solidFill>
                <a:latin typeface="Segoe UI"/>
              </a:rPr>
              <a:t>AI delegation manufactures that correlation — for any bank — and adds a new axis: the same model.</a:t>
            </a:r>
          </a:p>
        </p:txBody>
      </p:sp>
      <p:sp>
        <p:nvSpPr>
          <p:cNvPr id="6" name="TextBox 5"/>
          <p:cNvSpPr txBox="1"/>
          <p:nvPr/>
        </p:nvSpPr>
        <p:spPr>
          <a:xfrm>
            <a:off x="822960" y="6355080"/>
            <a:ext cx="8229600" cy="365760"/>
          </a:xfrm>
          <a:prstGeom prst="rect">
            <a:avLst/>
          </a:prstGeom>
          <a:noFill/>
        </p:spPr>
        <p:txBody>
          <a:bodyPr wrap="square">
            <a:spAutoFit/>
          </a:bodyPr>
          <a:lstStyle/>
          <a:p>
            <a:pPr algn="l">
              <a:spcAft>
                <a:spcPts val="800"/>
              </a:spcAft>
            </a:pPr>
            <a:r>
              <a:rPr sz="1200" b="0" i="0">
                <a:solidFill>
                  <a:srgbClr val="5A5B70"/>
                </a:solidFill>
                <a:latin typeface="Segoe UI"/>
              </a:rPr>
              <a:t>Empirical anchor</a:t>
            </a:r>
          </a:p>
        </p:txBody>
      </p:sp>
      <p:sp>
        <p:nvSpPr>
          <p:cNvPr id="7" name="TextBox 6"/>
          <p:cNvSpPr txBox="1"/>
          <p:nvPr/>
        </p:nvSpPr>
        <p:spPr>
          <a:xfrm>
            <a:off x="10424160" y="6355080"/>
            <a:ext cx="914400" cy="365760"/>
          </a:xfrm>
          <a:prstGeom prst="rect">
            <a:avLst/>
          </a:prstGeom>
          <a:noFill/>
        </p:spPr>
        <p:txBody>
          <a:bodyPr wrap="square">
            <a:spAutoFit/>
          </a:bodyPr>
          <a:lstStyle/>
          <a:p>
            <a:pPr algn="r">
              <a:spcAft>
                <a:spcPts val="800"/>
              </a:spcAft>
            </a:pPr>
            <a:r>
              <a:rPr sz="1200" b="0" i="0">
                <a:solidFill>
                  <a:srgbClr val="5A5B70"/>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1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spcAft>
                <a:spcPts val="800"/>
              </a:spcAft>
            </a:pPr>
            <a:r>
              <a:rPr sz="1400" b="1" i="0">
                <a:solidFill>
                  <a:srgbClr val="E15759"/>
                </a:solidFill>
                <a:latin typeface="Segoe UI"/>
              </a:rPr>
              <a:t>TWO NUMBERS TO WALK OUT WITH</a:t>
            </a:r>
          </a:p>
        </p:txBody>
      </p:sp>
      <p:sp>
        <p:nvSpPr>
          <p:cNvPr id="3" name="TextBox 2"/>
          <p:cNvSpPr txBox="1"/>
          <p:nvPr/>
        </p:nvSpPr>
        <p:spPr>
          <a:xfrm>
            <a:off x="822960" y="1005840"/>
            <a:ext cx="10515600" cy="1097280"/>
          </a:xfrm>
          <a:prstGeom prst="rect">
            <a:avLst/>
          </a:prstGeom>
          <a:noFill/>
        </p:spPr>
        <p:txBody>
          <a:bodyPr wrap="square">
            <a:spAutoFit/>
          </a:bodyPr>
          <a:lstStyle/>
          <a:p>
            <a:pPr algn="l">
              <a:lnSpc>
                <a:spcPct val="115000"/>
              </a:lnSpc>
              <a:spcAft>
                <a:spcPts val="800"/>
              </a:spcAft>
            </a:pPr>
            <a:r>
              <a:rPr sz="2800" b="1" i="0">
                <a:solidFill>
                  <a:srgbClr val="FFFFFF"/>
                </a:solidFill>
                <a:latin typeface="Segoe UI"/>
              </a:rPr>
              <a:t>Same healthy bank, same rumor — change only the </a:t>
            </a:r>
            <a:r>
              <a:rPr sz="2800" b="1" i="0">
                <a:solidFill>
                  <a:srgbClr val="E15759"/>
                </a:solidFill>
                <a:latin typeface="Segoe UI"/>
              </a:rPr>
              <a:t>AI model</a:t>
            </a:r>
            <a:r>
              <a:rPr sz="2800" b="1" i="0">
                <a:solidFill>
                  <a:srgbClr val="FFFFFF"/>
                </a:solidFill>
                <a:latin typeface="Segoe UI"/>
              </a:rPr>
              <a:t>:</a:t>
            </a:r>
          </a:p>
        </p:txBody>
      </p:sp>
      <p:sp>
        <p:nvSpPr>
          <p:cNvPr id="4" name="TextBox 3"/>
          <p:cNvSpPr txBox="1"/>
          <p:nvPr/>
        </p:nvSpPr>
        <p:spPr>
          <a:xfrm>
            <a:off x="822960" y="2103120"/>
            <a:ext cx="10515600" cy="1280160"/>
          </a:xfrm>
          <a:prstGeom prst="rect">
            <a:avLst/>
          </a:prstGeom>
          <a:noFill/>
        </p:spPr>
        <p:txBody>
          <a:bodyPr wrap="square">
            <a:spAutoFit/>
          </a:bodyPr>
          <a:lstStyle/>
          <a:p>
            <a:pPr algn="l">
              <a:spcAft>
                <a:spcPts val="800"/>
              </a:spcAft>
            </a:pPr>
            <a:r>
              <a:rPr sz="7600" b="1" i="0">
                <a:solidFill>
                  <a:srgbClr val="E15759"/>
                </a:solidFill>
                <a:latin typeface="Segoe UI"/>
              </a:rPr>
              <a:t>50% → 100%</a:t>
            </a:r>
          </a:p>
        </p:txBody>
      </p:sp>
      <p:sp>
        <p:nvSpPr>
          <p:cNvPr id="5" name="TextBox 4"/>
          <p:cNvSpPr txBox="1"/>
          <p:nvPr/>
        </p:nvSpPr>
        <p:spPr>
          <a:xfrm>
            <a:off x="822960" y="3474720"/>
            <a:ext cx="10515600" cy="822960"/>
          </a:xfrm>
          <a:prstGeom prst="rect">
            <a:avLst/>
          </a:prstGeom>
          <a:noFill/>
        </p:spPr>
        <p:txBody>
          <a:bodyPr wrap="square">
            <a:spAutoFit/>
          </a:bodyPr>
          <a:lstStyle/>
          <a:p>
            <a:pPr algn="l">
              <a:lnSpc>
                <a:spcPct val="130000"/>
              </a:lnSpc>
              <a:spcAft>
                <a:spcPts val="800"/>
              </a:spcAft>
            </a:pPr>
            <a:r>
              <a:rPr sz="1800" b="0" i="0">
                <a:solidFill>
                  <a:srgbClr val="FFFFFF"/>
                </a:solidFill>
                <a:latin typeface="Segoe UI"/>
              </a:rPr>
              <a:t>of depositors run, decided by </a:t>
            </a:r>
            <a:r>
              <a:rPr sz="1800" b="0" i="0">
                <a:solidFill>
                  <a:srgbClr val="76B7B2"/>
                </a:solidFill>
                <a:latin typeface="Segoe UI"/>
              </a:rPr>
              <a:t>nothing but the model</a:t>
            </a:r>
            <a:r>
              <a:rPr sz="1800" b="0" i="0">
                <a:solidFill>
                  <a:srgbClr val="FFFFFF"/>
                </a:solidFill>
                <a:latin typeface="Segoe UI"/>
              </a:rPr>
              <a:t> — replicated, bands don't overlap. A monoculture panics in lockstep: the model is a systemic risk factor.</a:t>
            </a:r>
          </a:p>
        </p:txBody>
      </p:sp>
      <p:sp>
        <p:nvSpPr>
          <p:cNvPr id="6" name="TextBox 5"/>
          <p:cNvSpPr txBox="1"/>
          <p:nvPr/>
        </p:nvSpPr>
        <p:spPr>
          <a:xfrm>
            <a:off x="822960" y="4572000"/>
            <a:ext cx="10515600" cy="1554480"/>
          </a:xfrm>
          <a:prstGeom prst="rect">
            <a:avLst/>
          </a:prstGeom>
          <a:noFill/>
        </p:spPr>
        <p:txBody>
          <a:bodyPr wrap="square">
            <a:spAutoFit/>
          </a:bodyPr>
          <a:lstStyle/>
          <a:p>
            <a:pPr algn="l">
              <a:lnSpc>
                <a:spcPct val="130000"/>
              </a:lnSpc>
              <a:spcAft>
                <a:spcPts val="1000"/>
              </a:spcAft>
            </a:pPr>
            <a:r>
              <a:rPr sz="1800" b="0" i="0">
                <a:solidFill>
                  <a:srgbClr val="E15759"/>
                </a:solidFill>
                <a:latin typeface="Segoe UI"/>
              </a:rPr>
              <a:t>① The model swings the outcome — </a:t>
            </a:r>
            <a:r>
              <a:rPr sz="1800" b="0" i="0">
                <a:solidFill>
                  <a:srgbClr val="D7D8E6"/>
                </a:solidFill>
                <a:latin typeface="Segoe UI"/>
              </a:rPr>
              <a:t>Claude ~50% · GPT 100% on an identical healthy bank; none tells a real crisis from a fake one well.</a:t>
            </a:r>
          </a:p>
          <a:p>
            <a:pPr algn="l">
              <a:lnSpc>
                <a:spcPct val="130000"/>
              </a:lnSpc>
              <a:spcAft>
                <a:spcPts val="800"/>
              </a:spcAft>
            </a:pPr>
            <a:r>
              <a:rPr sz="1800" b="0" i="0">
                <a:solidFill>
                  <a:srgbClr val="E15759"/>
                </a:solidFill>
                <a:latin typeface="Segoe UI"/>
              </a:rPr>
              <a:t>② …and it's ≈3× faster — </a:t>
            </a:r>
            <a:r>
              <a:rPr sz="1800" b="0" i="0">
                <a:solidFill>
                  <a:srgbClr val="D7D8E6"/>
                </a:solidFill>
                <a:latin typeface="Segoe UI"/>
              </a:rPr>
              <a:t>half decide to pull out in ~5s vs ~15s; the bank freezes first, 5/12 vs 11/12 get cash. Faster, not bigger.</a:t>
            </a:r>
          </a:p>
        </p:txBody>
      </p:sp>
      <p:sp>
        <p:nvSpPr>
          <p:cNvPr id="7" name="TextBox 6"/>
          <p:cNvSpPr txBox="1"/>
          <p:nvPr/>
        </p:nvSpPr>
        <p:spPr>
          <a:xfrm>
            <a:off x="822960" y="6355080"/>
            <a:ext cx="8229600" cy="365760"/>
          </a:xfrm>
          <a:prstGeom prst="rect">
            <a:avLst/>
          </a:prstGeom>
          <a:noFill/>
        </p:spPr>
        <p:txBody>
          <a:bodyPr wrap="square">
            <a:spAutoFit/>
          </a:bodyPr>
          <a:lstStyle/>
          <a:p>
            <a:pPr algn="l">
              <a:spcAft>
                <a:spcPts val="800"/>
              </a:spcAft>
            </a:pPr>
            <a:r>
              <a:rPr sz="1200" b="0" i="0">
                <a:solidFill>
                  <a:srgbClr val="5A5B70"/>
                </a:solidFill>
                <a:latin typeface="Segoe UI"/>
              </a:rPr>
              <a:t>The headline</a:t>
            </a:r>
          </a:p>
        </p:txBody>
      </p:sp>
      <p:sp>
        <p:nvSpPr>
          <p:cNvPr id="8" name="TextBox 7"/>
          <p:cNvSpPr txBox="1"/>
          <p:nvPr/>
        </p:nvSpPr>
        <p:spPr>
          <a:xfrm>
            <a:off x="10424160" y="6355080"/>
            <a:ext cx="914400" cy="365760"/>
          </a:xfrm>
          <a:prstGeom prst="rect">
            <a:avLst/>
          </a:prstGeom>
          <a:noFill/>
        </p:spPr>
        <p:txBody>
          <a:bodyPr wrap="square">
            <a:spAutoFit/>
          </a:bodyPr>
          <a:lstStyle/>
          <a:p>
            <a:pPr algn="r">
              <a:spcAft>
                <a:spcPts val="800"/>
              </a:spcAft>
            </a:pPr>
            <a:r>
              <a:rPr sz="1200" b="0" i="0">
                <a:solidFill>
                  <a:srgbClr val="5A5B7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18"/>
        </a:solidFill>
        <a:effectLst/>
      </p:bgPr>
    </p:bg>
    <p:spTree>
      <p:nvGrpSpPr>
        <p:cNvPr id="1" name=""/>
        <p:cNvGrpSpPr/>
        <p:nvPr/>
      </p:nvGrpSpPr>
      <p:grpSpPr/>
      <p:sp>
        <p:nvSpPr>
          <p:cNvPr id="2" name="TextBox 1"/>
          <p:cNvSpPr txBox="1"/>
          <p:nvPr/>
        </p:nvSpPr>
        <p:spPr>
          <a:xfrm>
            <a:off x="822960" y="731520"/>
            <a:ext cx="10515600" cy="1280160"/>
          </a:xfrm>
          <a:prstGeom prst="rect">
            <a:avLst/>
          </a:prstGeom>
          <a:noFill/>
        </p:spPr>
        <p:txBody>
          <a:bodyPr wrap="square">
            <a:spAutoFit/>
          </a:bodyPr>
          <a:lstStyle/>
          <a:p>
            <a:pPr algn="l">
              <a:lnSpc>
                <a:spcPct val="110000"/>
              </a:lnSpc>
              <a:spcAft>
                <a:spcPts val="800"/>
              </a:spcAft>
            </a:pPr>
            <a:r>
              <a:rPr sz="3200" b="1" i="0">
                <a:solidFill>
                  <a:srgbClr val="FFFFFF"/>
                </a:solidFill>
                <a:latin typeface="Segoe UI"/>
              </a:rPr>
              <a:t>What we'd tell anyone </a:t>
            </a:r>
            <a:r>
              <a:rPr sz="3200" b="1" i="0">
                <a:solidFill>
                  <a:srgbClr val="E15759"/>
                </a:solidFill>
                <a:latin typeface="Segoe UI"/>
              </a:rPr>
              <a:t>building or regulating</a:t>
            </a:r>
            <a:r>
              <a:rPr sz="3200" b="1" i="0">
                <a:solidFill>
                  <a:srgbClr val="FFFFFF"/>
                </a:solidFill>
                <a:latin typeface="Segoe UI"/>
              </a:rPr>
              <a:t> AI money-managers</a:t>
            </a:r>
          </a:p>
        </p:txBody>
      </p:sp>
      <p:sp>
        <p:nvSpPr>
          <p:cNvPr id="3" name="TextBox 2"/>
          <p:cNvSpPr txBox="1"/>
          <p:nvPr/>
        </p:nvSpPr>
        <p:spPr>
          <a:xfrm>
            <a:off x="822960" y="2194560"/>
            <a:ext cx="10515600" cy="3108960"/>
          </a:xfrm>
          <a:prstGeom prst="rect">
            <a:avLst/>
          </a:prstGeom>
          <a:noFill/>
        </p:spPr>
        <p:txBody>
          <a:bodyPr wrap="square">
            <a:spAutoFit/>
          </a:bodyPr>
          <a:lstStyle/>
          <a:p>
            <a:pPr algn="l">
              <a:lnSpc>
                <a:spcPct val="125000"/>
              </a:lnSpc>
              <a:spcAft>
                <a:spcPts val="1800"/>
              </a:spcAft>
            </a:pPr>
            <a:r>
              <a:rPr sz="2100" b="0" i="0">
                <a:solidFill>
                  <a:srgbClr val="E15759"/>
                </a:solidFill>
                <a:latin typeface="Segoe UI"/>
              </a:rPr>
              <a:t>•  </a:t>
            </a:r>
            <a:r>
              <a:rPr sz="2100" b="0" i="0">
                <a:solidFill>
                  <a:srgbClr val="FFFFFF"/>
                </a:solidFill>
                <a:latin typeface="Segoe UI"/>
              </a:rPr>
              <a:t>The model is a systemic risk factor</a:t>
            </a:r>
            <a:r>
              <a:rPr sz="2100" b="0" i="0">
                <a:solidFill>
                  <a:srgbClr val="D7D8E6"/>
                </a:solidFill>
                <a:latin typeface="Segoe UI"/>
              </a:rPr>
              <a:t> — one model swung a healthy bank from a 50% scare to a 100% run; a fleet on one model panics in lockstep.</a:t>
            </a:r>
          </a:p>
          <a:p>
            <a:pPr algn="l">
              <a:lnSpc>
                <a:spcPct val="125000"/>
              </a:lnSpc>
              <a:spcAft>
                <a:spcPts val="1800"/>
              </a:spcAft>
            </a:pPr>
            <a:r>
              <a:rPr sz="2100" b="0" i="0">
                <a:solidFill>
                  <a:srgbClr val="E15759"/>
                </a:solidFill>
                <a:latin typeface="Segoe UI"/>
              </a:rPr>
              <a:t>•  </a:t>
            </a:r>
            <a:r>
              <a:rPr sz="2100" b="0" i="0">
                <a:solidFill>
                  <a:srgbClr val="FFFFFF"/>
                </a:solidFill>
                <a:latin typeface="Segoe UI"/>
              </a:rPr>
              <a:t>Speed compresses the response window to seconds</a:t>
            </a:r>
            <a:r>
              <a:rPr sz="2100" b="0" i="0">
                <a:solidFill>
                  <a:srgbClr val="D7D8E6"/>
                </a:solidFill>
                <a:latin typeface="Segoe UI"/>
              </a:rPr>
              <a:t> — human oversight can't keep up.</a:t>
            </a:r>
          </a:p>
          <a:p>
            <a:pPr algn="l">
              <a:lnSpc>
                <a:spcPct val="125000"/>
              </a:lnSpc>
              <a:spcAft>
                <a:spcPts val="1800"/>
              </a:spcAft>
            </a:pPr>
            <a:r>
              <a:rPr sz="2100" b="0" i="0">
                <a:solidFill>
                  <a:srgbClr val="E15759"/>
                </a:solidFill>
                <a:latin typeface="Segoe UI"/>
              </a:rPr>
              <a:t>•  </a:t>
            </a:r>
            <a:r>
              <a:rPr sz="2100" b="0" i="0">
                <a:solidFill>
                  <a:srgbClr val="FFFFFF"/>
                </a:solidFill>
                <a:latin typeface="Segoe UI"/>
              </a:rPr>
              <a:t>Agents react to alarming language, not stated credibility</a:t>
            </a:r>
            <a:r>
              <a:rPr sz="2100" b="0" i="0">
                <a:solidFill>
                  <a:srgbClr val="D7D8E6"/>
                </a:solidFill>
                <a:latin typeface="Segoe UI"/>
              </a:rPr>
              <a:t> — and their confidence is just as high when they're wrong.</a:t>
            </a:r>
          </a:p>
        </p:txBody>
      </p:sp>
      <p:sp>
        <p:nvSpPr>
          <p:cNvPr id="4" name="TextBox 3"/>
          <p:cNvSpPr txBox="1"/>
          <p:nvPr/>
        </p:nvSpPr>
        <p:spPr>
          <a:xfrm>
            <a:off x="822960" y="5394960"/>
            <a:ext cx="10515600" cy="822960"/>
          </a:xfrm>
          <a:prstGeom prst="rect">
            <a:avLst/>
          </a:prstGeom>
          <a:noFill/>
        </p:spPr>
        <p:txBody>
          <a:bodyPr wrap="square">
            <a:spAutoFit/>
          </a:bodyPr>
          <a:lstStyle/>
          <a:p>
            <a:pPr algn="l">
              <a:lnSpc>
                <a:spcPct val="130000"/>
              </a:lnSpc>
              <a:spcAft>
                <a:spcPts val="800"/>
              </a:spcAft>
            </a:pPr>
            <a:r>
              <a:rPr sz="1800" b="0" i="1">
                <a:solidFill>
                  <a:srgbClr val="9AA0B5"/>
                </a:solidFill>
                <a:latin typeface="Segoe UI"/>
              </a:rPr>
              <a:t>A 12-agent sandbox — built to find these failure modes cheaply, before this is how finance works.</a:t>
            </a:r>
          </a:p>
        </p:txBody>
      </p:sp>
      <p:sp>
        <p:nvSpPr>
          <p:cNvPr id="5" name="TextBox 4"/>
          <p:cNvSpPr txBox="1"/>
          <p:nvPr/>
        </p:nvSpPr>
        <p:spPr>
          <a:xfrm>
            <a:off x="822960" y="6355080"/>
            <a:ext cx="8229600" cy="365760"/>
          </a:xfrm>
          <a:prstGeom prst="rect">
            <a:avLst/>
          </a:prstGeom>
          <a:noFill/>
        </p:spPr>
        <p:txBody>
          <a:bodyPr wrap="square">
            <a:spAutoFit/>
          </a:bodyPr>
          <a:lstStyle/>
          <a:p>
            <a:pPr algn="l">
              <a:spcAft>
                <a:spcPts val="800"/>
              </a:spcAft>
            </a:pPr>
            <a:r>
              <a:rPr sz="1200" b="0" i="0">
                <a:solidFill>
                  <a:srgbClr val="5A5B70"/>
                </a:solidFill>
                <a:latin typeface="Segoe UI"/>
              </a:rPr>
              <a:t>One more thing →</a:t>
            </a:r>
          </a:p>
        </p:txBody>
      </p:sp>
      <p:sp>
        <p:nvSpPr>
          <p:cNvPr id="6" name="TextBox 5"/>
          <p:cNvSpPr txBox="1"/>
          <p:nvPr/>
        </p:nvSpPr>
        <p:spPr>
          <a:xfrm>
            <a:off x="10424160" y="6355080"/>
            <a:ext cx="914400" cy="365760"/>
          </a:xfrm>
          <a:prstGeom prst="rect">
            <a:avLst/>
          </a:prstGeom>
          <a:noFill/>
        </p:spPr>
        <p:txBody>
          <a:bodyPr wrap="square">
            <a:spAutoFit/>
          </a:bodyPr>
          <a:lstStyle/>
          <a:p>
            <a:pPr algn="r">
              <a:spcAft>
                <a:spcPts val="800"/>
              </a:spcAft>
            </a:pPr>
            <a:r>
              <a:rPr sz="1200" b="0" i="0">
                <a:solidFill>
                  <a:srgbClr val="5A5B7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41C2E"/>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spcAft>
                <a:spcPts val="800"/>
              </a:spcAft>
            </a:pPr>
            <a:r>
              <a:rPr sz="1400" b="1" i="0">
                <a:solidFill>
                  <a:srgbClr val="E15759"/>
                </a:solidFill>
                <a:latin typeface="Segoe UI"/>
              </a:rPr>
              <a:t>PLAY RECORDING · THE SANDBOX</a:t>
            </a:r>
          </a:p>
        </p:txBody>
      </p:sp>
      <p:sp>
        <p:nvSpPr>
          <p:cNvPr id="3" name="TextBox 2"/>
          <p:cNvSpPr txBox="1"/>
          <p:nvPr/>
        </p:nvSpPr>
        <p:spPr>
          <a:xfrm>
            <a:off x="822960" y="1097280"/>
            <a:ext cx="10515600" cy="1005840"/>
          </a:xfrm>
          <a:prstGeom prst="rect">
            <a:avLst/>
          </a:prstGeom>
          <a:noFill/>
        </p:spPr>
        <p:txBody>
          <a:bodyPr wrap="square">
            <a:spAutoFit/>
          </a:bodyPr>
          <a:lstStyle/>
          <a:p>
            <a:pPr algn="l">
              <a:spcAft>
                <a:spcPts val="800"/>
              </a:spcAft>
            </a:pPr>
            <a:r>
              <a:rPr sz="3400" b="1" i="0">
                <a:solidFill>
                  <a:srgbClr val="FFFFFF"/>
                </a:solidFill>
                <a:latin typeface="Segoe UI"/>
              </a:rPr>
              <a:t>It isn't a fixed demo — </a:t>
            </a:r>
            <a:r>
              <a:rPr sz="3400" b="1" i="0">
                <a:solidFill>
                  <a:srgbClr val="E15759"/>
                </a:solidFill>
                <a:latin typeface="Segoe UI"/>
              </a:rPr>
              <a:t>build any crisis</a:t>
            </a:r>
          </a:p>
        </p:txBody>
      </p:sp>
      <p:sp>
        <p:nvSpPr>
          <p:cNvPr id="4" name="Rounded Rectangle 3"/>
          <p:cNvSpPr/>
          <p:nvPr/>
        </p:nvSpPr>
        <p:spPr>
          <a:xfrm>
            <a:off x="3352647" y="1828800"/>
            <a:ext cx="5486400" cy="3086100"/>
          </a:xfrm>
          <a:prstGeom prst="roundRect">
            <a:avLst/>
          </a:prstGeom>
          <a:solidFill>
            <a:srgbClr val="17111E"/>
          </a:solidFill>
          <a:ln w="15875">
            <a:solidFill>
              <a:srgbClr val="76B7B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i="0">
                <a:solidFill>
                  <a:srgbClr val="9AA0B5"/>
                </a:solidFill>
                <a:latin typeface="Segoe UI"/>
              </a:rPr>
              <a:t>▶  Sandbox screen recording</a:t>
            </a:r>
          </a:p>
          <a:p>
            <a:pPr algn="ctr">
              <a:spcAft>
                <a:spcPts val="800"/>
              </a:spcAft>
            </a:pPr>
            <a:r>
              <a:rPr sz="1200" b="0" i="0">
                <a:solidFill>
                  <a:srgbClr val="5A5B70"/>
                </a:solidFill>
                <a:latin typeface="Segoe UI"/>
              </a:rPr>
              <a:t>insert video here · Playback ▸ Play Full Screen · then delete this box</a:t>
            </a:r>
          </a:p>
        </p:txBody>
      </p:sp>
      <p:sp>
        <p:nvSpPr>
          <p:cNvPr id="5" name="TextBox 4"/>
          <p:cNvSpPr txBox="1"/>
          <p:nvPr/>
        </p:nvSpPr>
        <p:spPr>
          <a:xfrm>
            <a:off x="822960" y="5120640"/>
            <a:ext cx="10515600" cy="1097280"/>
          </a:xfrm>
          <a:prstGeom prst="rect">
            <a:avLst/>
          </a:prstGeom>
          <a:noFill/>
        </p:spPr>
        <p:txBody>
          <a:bodyPr wrap="square">
            <a:spAutoFit/>
          </a:bodyPr>
          <a:lstStyle/>
          <a:p>
            <a:pPr algn="l">
              <a:lnSpc>
                <a:spcPct val="122000"/>
              </a:lnSpc>
              <a:spcAft>
                <a:spcPts val="800"/>
              </a:spcAft>
            </a:pPr>
            <a:r>
              <a:rPr sz="1700" b="0" i="0">
                <a:solidFill>
                  <a:srgbClr val="FFFFFF"/>
                </a:solidFill>
                <a:latin typeface="Segoe UI"/>
              </a:rPr>
              <a:t>It's not just a demo — it's </a:t>
            </a:r>
            <a:r>
              <a:rPr sz="1700" b="0" i="0">
                <a:solidFill>
                  <a:srgbClr val="76B7B2"/>
                </a:solidFill>
                <a:latin typeface="Segoe UI"/>
              </a:rPr>
              <a:t>infrastructure</a:t>
            </a:r>
            <a:r>
              <a:rPr sz="1700" b="0" i="0">
                <a:solidFill>
                  <a:srgbClr val="FFFFFF"/>
                </a:solidFill>
                <a:latin typeface="Segoe UI"/>
              </a:rPr>
              <a:t>: a regulator stress-tests delegation rules before approving them, a fintech vets its agent before launch, and real data on who delegates to which model sizes the systemic risk.</a:t>
            </a:r>
          </a:p>
        </p:txBody>
      </p:sp>
      <p:sp>
        <p:nvSpPr>
          <p:cNvPr id="6" name="TextBox 5"/>
          <p:cNvSpPr txBox="1"/>
          <p:nvPr/>
        </p:nvSpPr>
        <p:spPr>
          <a:xfrm>
            <a:off x="822960" y="6355080"/>
            <a:ext cx="8229600" cy="365760"/>
          </a:xfrm>
          <a:prstGeom prst="rect">
            <a:avLst/>
          </a:prstGeom>
          <a:noFill/>
        </p:spPr>
        <p:txBody>
          <a:bodyPr wrap="square">
            <a:spAutoFit/>
          </a:bodyPr>
          <a:lstStyle/>
          <a:p>
            <a:pPr algn="l">
              <a:spcAft>
                <a:spcPts val="800"/>
              </a:spcAft>
            </a:pPr>
            <a:r>
              <a:rPr sz="1200" b="0" i="0">
                <a:solidFill>
                  <a:srgbClr val="5A5B70"/>
                </a:solidFill>
                <a:latin typeface="Segoe UI"/>
              </a:rPr>
              <a:t>Thank you — questions?</a:t>
            </a:r>
          </a:p>
        </p:txBody>
      </p:sp>
      <p:sp>
        <p:nvSpPr>
          <p:cNvPr id="7" name="TextBox 6"/>
          <p:cNvSpPr txBox="1"/>
          <p:nvPr/>
        </p:nvSpPr>
        <p:spPr>
          <a:xfrm>
            <a:off x="10424160" y="6355080"/>
            <a:ext cx="914400" cy="365760"/>
          </a:xfrm>
          <a:prstGeom prst="rect">
            <a:avLst/>
          </a:prstGeom>
          <a:noFill/>
        </p:spPr>
        <p:txBody>
          <a:bodyPr wrap="square">
            <a:spAutoFit/>
          </a:bodyPr>
          <a:lstStyle/>
          <a:p>
            <a:pPr algn="r">
              <a:spcAft>
                <a:spcPts val="800"/>
              </a:spcAft>
            </a:pPr>
            <a:r>
              <a:rPr sz="1200" b="0" i="0">
                <a:solidFill>
                  <a:srgbClr val="5A5B7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1522"/>
        </a:solidFill>
        <a:effectLst/>
      </p:bgPr>
    </p:bg>
    <p:spTree>
      <p:nvGrpSpPr>
        <p:cNvPr id="1" name=""/>
        <p:cNvGrpSpPr/>
        <p:nvPr/>
      </p:nvGrpSpPr>
      <p:grpSpPr/>
      <p:sp>
        <p:nvSpPr>
          <p:cNvPr id="2" name="TextBox 1"/>
          <p:cNvSpPr txBox="1"/>
          <p:nvPr/>
        </p:nvSpPr>
        <p:spPr>
          <a:xfrm>
            <a:off x="822960" y="2743200"/>
            <a:ext cx="10515600" cy="1280160"/>
          </a:xfrm>
          <a:prstGeom prst="rect">
            <a:avLst/>
          </a:prstGeom>
          <a:noFill/>
        </p:spPr>
        <p:txBody>
          <a:bodyPr wrap="square" anchor="ctr">
            <a:spAutoFit/>
          </a:bodyPr>
          <a:lstStyle/>
          <a:p>
            <a:pPr algn="l">
              <a:spcAft>
                <a:spcPts val="800"/>
              </a:spcAft>
            </a:pPr>
            <a:r>
              <a:rPr sz="4800" b="1" i="0">
                <a:solidFill>
                  <a:srgbClr val="FFFFFF"/>
                </a:solidFill>
                <a:latin typeface="Segoe UI"/>
              </a:rPr>
              <a:t>Appendix</a:t>
            </a:r>
          </a:p>
          <a:p>
            <a:pPr algn="l">
              <a:spcAft>
                <a:spcPts val="0"/>
              </a:spcAft>
            </a:pPr>
            <a:r>
              <a:rPr sz="2200" b="0" i="0">
                <a:solidFill>
                  <a:srgbClr val="9AA0B5"/>
                </a:solidFill>
                <a:latin typeface="Segoe UI"/>
              </a:rPr>
              <a:t>Backup slides for Q&amp;A — flip here as needed.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51522"/>
        </a:solidFill>
        <a:effectLst/>
      </p:bgPr>
    </p:bg>
    <p:spTree>
      <p:nvGrpSpPr>
        <p:cNvPr id="1" name=""/>
        <p:cNvGrpSpPr/>
        <p:nvPr/>
      </p:nvGrpSpPr>
      <p:grpSpPr/>
      <p:sp>
        <p:nvSpPr>
          <p:cNvPr id="2" name="TextBox 1"/>
          <p:cNvSpPr txBox="1"/>
          <p:nvPr/>
        </p:nvSpPr>
        <p:spPr>
          <a:xfrm>
            <a:off x="822960" y="502920"/>
            <a:ext cx="10515600" cy="457200"/>
          </a:xfrm>
          <a:prstGeom prst="rect">
            <a:avLst/>
          </a:prstGeom>
          <a:noFill/>
        </p:spPr>
        <p:txBody>
          <a:bodyPr wrap="square">
            <a:spAutoFit/>
          </a:bodyPr>
          <a:lstStyle/>
          <a:p>
            <a:pPr algn="l">
              <a:spcAft>
                <a:spcPts val="800"/>
              </a:spcAft>
            </a:pPr>
            <a:r>
              <a:rPr sz="1300" b="1" i="0">
                <a:solidFill>
                  <a:srgbClr val="9AA0B5"/>
                </a:solidFill>
                <a:latin typeface="Segoe UI"/>
              </a:rPr>
              <a:t>BACKUP · FOR Q&amp;A</a:t>
            </a:r>
          </a:p>
        </p:txBody>
      </p:sp>
      <p:sp>
        <p:nvSpPr>
          <p:cNvPr id="3" name="TextBox 2"/>
          <p:cNvSpPr txBox="1"/>
          <p:nvPr/>
        </p:nvSpPr>
        <p:spPr>
          <a:xfrm>
            <a:off x="822960" y="1024128"/>
            <a:ext cx="10515600" cy="1005840"/>
          </a:xfrm>
          <a:prstGeom prst="rect">
            <a:avLst/>
          </a:prstGeom>
          <a:noFill/>
        </p:spPr>
        <p:txBody>
          <a:bodyPr wrap="square">
            <a:spAutoFit/>
          </a:bodyPr>
          <a:lstStyle/>
          <a:p>
            <a:pPr algn="l">
              <a:lnSpc>
                <a:spcPct val="110000"/>
              </a:lnSpc>
              <a:spcAft>
                <a:spcPts val="800"/>
              </a:spcAft>
            </a:pPr>
            <a:r>
              <a:rPr sz="3000" b="1" i="0">
                <a:solidFill>
                  <a:srgbClr val="FFFFFF"/>
                </a:solidFill>
                <a:latin typeface="Segoe UI"/>
              </a:rPr>
              <a:t>Same personas, different brains — </a:t>
            </a:r>
            <a:r>
              <a:rPr sz="3000" b="1" i="0">
                <a:solidFill>
                  <a:srgbClr val="E15759"/>
                </a:solidFill>
                <a:latin typeface="Segoe UI"/>
              </a:rPr>
              <a:t>the detail</a:t>
            </a:r>
          </a:p>
        </p:txBody>
      </p:sp>
      <p:sp>
        <p:nvSpPr>
          <p:cNvPr id="4" name="TextBox 3"/>
          <p:cNvSpPr txBox="1"/>
          <p:nvPr/>
        </p:nvSpPr>
        <p:spPr>
          <a:xfrm>
            <a:off x="10058400" y="6355080"/>
            <a:ext cx="1280160" cy="365760"/>
          </a:xfrm>
          <a:prstGeom prst="rect">
            <a:avLst/>
          </a:prstGeom>
          <a:noFill/>
        </p:spPr>
        <p:txBody>
          <a:bodyPr wrap="square">
            <a:spAutoFit/>
          </a:bodyPr>
          <a:lstStyle/>
          <a:p>
            <a:pPr algn="r">
              <a:spcAft>
                <a:spcPts val="800"/>
              </a:spcAft>
            </a:pPr>
            <a:r>
              <a:rPr sz="1200" b="0" i="0">
                <a:solidFill>
                  <a:srgbClr val="5A5B70"/>
                </a:solidFill>
                <a:latin typeface="Segoe UI"/>
              </a:rPr>
              <a:t>B1</a:t>
            </a:r>
          </a:p>
        </p:txBody>
      </p:sp>
      <p:sp>
        <p:nvSpPr>
          <p:cNvPr id="5" name="TextBox 4"/>
          <p:cNvSpPr txBox="1"/>
          <p:nvPr/>
        </p:nvSpPr>
        <p:spPr>
          <a:xfrm>
            <a:off x="822960" y="2103120"/>
            <a:ext cx="10515600" cy="2743200"/>
          </a:xfrm>
          <a:prstGeom prst="rect">
            <a:avLst/>
          </a:prstGeom>
          <a:noFill/>
        </p:spPr>
        <p:txBody>
          <a:bodyPr wrap="square">
            <a:spAutoFit/>
          </a:bodyPr>
          <a:lstStyle/>
          <a:p>
            <a:pPr algn="l">
              <a:lnSpc>
                <a:spcPct val="125000"/>
              </a:lnSpc>
              <a:spcAft>
                <a:spcPts val="1100"/>
              </a:spcAft>
            </a:pPr>
            <a:r>
              <a:rPr sz="1800" b="0" i="0">
                <a:solidFill>
                  <a:srgbClr val="D7D8E6"/>
                </a:solidFill>
                <a:latin typeface="Segoe UI"/>
              </a:rPr>
              <a:t>•  Healthy bank, withdrawing = wrong. Ran on it (mean of 4–5 reps): </a:t>
            </a:r>
          </a:p>
          <a:p>
            <a:pPr algn="l">
              <a:lnSpc>
                <a:spcPct val="125000"/>
              </a:lnSpc>
              <a:spcAft>
                <a:spcPts val="1100"/>
              </a:spcAft>
            </a:pPr>
            <a:r>
              <a:rPr sz="1800" b="0" i="0">
                <a:solidFill>
                  <a:srgbClr val="FFFFFF"/>
                </a:solidFill>
                <a:latin typeface="Segoe UI"/>
              </a:rPr>
              <a:t>     Claude 50% · Grok 67% · DeepSeek 79% · Mistral 85% · Gemini 98% · </a:t>
            </a:r>
            <a:r>
              <a:rPr sz="1800" b="0" i="0">
                <a:solidFill>
                  <a:srgbClr val="E15759"/>
                </a:solidFill>
                <a:latin typeface="Segoe UI"/>
              </a:rPr>
              <a:t>GPT 100%</a:t>
            </a:r>
          </a:p>
          <a:p>
            <a:pPr algn="l">
              <a:lnSpc>
                <a:spcPct val="125000"/>
              </a:lnSpc>
              <a:spcAft>
                <a:spcPts val="1100"/>
              </a:spcAft>
            </a:pPr>
            <a:r>
              <a:rPr sz="1800" b="0" i="0">
                <a:solidFill>
                  <a:srgbClr val="D7D8E6"/>
                </a:solidFill>
                <a:latin typeface="Segoe UI"/>
              </a:rPr>
              <a:t>•  Bands </a:t>
            </a:r>
            <a:r>
              <a:rPr sz="1800" b="0" i="0">
                <a:solidFill>
                  <a:srgbClr val="FFFFFF"/>
                </a:solidFill>
                <a:latin typeface="Segoe UI"/>
              </a:rPr>
              <a:t>don't overlap</a:t>
            </a:r>
            <a:r>
              <a:rPr sz="1800" b="0" i="0">
                <a:solidFill>
                  <a:srgbClr val="D7D8E6"/>
                </a:solidFill>
                <a:latin typeface="Segoe UI"/>
              </a:rPr>
              <a:t> — a 50-pt gap that survives replication, not sampling noise.</a:t>
            </a:r>
          </a:p>
          <a:p>
            <a:pPr algn="l">
              <a:lnSpc>
                <a:spcPct val="125000"/>
              </a:lnSpc>
              <a:spcAft>
                <a:spcPts val="1100"/>
              </a:spcAft>
            </a:pPr>
            <a:r>
              <a:rPr sz="1800" b="0" i="0">
                <a:solidFill>
                  <a:srgbClr val="D7D8E6"/>
                </a:solidFill>
                <a:latin typeface="Segoe UI"/>
              </a:rPr>
              <a:t>•  Discrimination (real vs. fake crisis): </a:t>
            </a:r>
            <a:r>
              <a:rPr sz="1800" b="0" i="0">
                <a:solidFill>
                  <a:srgbClr val="FFFFFF"/>
                </a:solidFill>
                <a:latin typeface="Segoe UI"/>
              </a:rPr>
              <a:t>GPT/Gemini ≈0</a:t>
            </a:r>
            <a:r>
              <a:rPr sz="1800" b="0" i="0">
                <a:solidFill>
                  <a:srgbClr val="D7D8E6"/>
                </a:solidFill>
                <a:latin typeface="Segoe UI"/>
              </a:rPr>
              <a:t> (cry-wolf, run either way); Claude +20pts is the only meaningful discriminator — and still panics 50% on a false alarm.</a:t>
            </a:r>
          </a:p>
          <a:p>
            <a:pPr algn="l">
              <a:lnSpc>
                <a:spcPct val="125000"/>
              </a:lnSpc>
              <a:spcAft>
                <a:spcPts val="1100"/>
              </a:spcAft>
            </a:pPr>
            <a:r>
              <a:rPr sz="1800" b="0" i="0">
                <a:solidFill>
                  <a:srgbClr val="D7D8E6"/>
                </a:solidFill>
                <a:latin typeface="Segoe UI"/>
              </a:rPr>
              <a:t>•  Excluded honestly: </a:t>
            </a:r>
            <a:r>
              <a:rPr sz="1800" b="0" i="0">
                <a:solidFill>
                  <a:srgbClr val="FFFFFF"/>
                </a:solidFill>
                <a:latin typeface="Segoe UI"/>
              </a:rPr>
              <a:t>Qwen, ByteDance-Seed</a:t>
            </a:r>
            <a:r>
              <a:rPr sz="1800" b="0" i="0">
                <a:solidFill>
                  <a:srgbClr val="D7D8E6"/>
                </a:solidFill>
                <a:latin typeface="Segoe UI"/>
              </a:rPr>
              <a:t> can't emit a structured decision (default to hold) — a 0% there is plumbing, not calm.</a:t>
            </a:r>
          </a:p>
        </p:txBody>
      </p:sp>
      <p:sp>
        <p:nvSpPr>
          <p:cNvPr id="6" name="TextBox 5"/>
          <p:cNvSpPr txBox="1"/>
          <p:nvPr/>
        </p:nvSpPr>
        <p:spPr>
          <a:xfrm>
            <a:off x="822960" y="5029200"/>
            <a:ext cx="10515600" cy="1005840"/>
          </a:xfrm>
          <a:prstGeom prst="rect">
            <a:avLst/>
          </a:prstGeom>
          <a:noFill/>
        </p:spPr>
        <p:txBody>
          <a:bodyPr wrap="square">
            <a:spAutoFit/>
          </a:bodyPr>
          <a:lstStyle/>
          <a:p>
            <a:pPr algn="l">
              <a:lnSpc>
                <a:spcPct val="130000"/>
              </a:lnSpc>
              <a:spcAft>
                <a:spcPts val="800"/>
              </a:spcAft>
            </a:pPr>
            <a:r>
              <a:rPr sz="1700" b="0" i="1">
                <a:solidFill>
                  <a:srgbClr val="FFFFFF"/>
                </a:solidFill>
                <a:latin typeface="Segoe UI"/>
              </a:rPr>
              <a:t>Same persona can privately reach “79% chance of trouble” under both models — GPT acts on it, Claude flags its own overconfidence and hedges. That self-doubt is the whole gap.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51522"/>
        </a:solidFill>
        <a:effectLst/>
      </p:bgPr>
    </p:bg>
    <p:spTree>
      <p:nvGrpSpPr>
        <p:cNvPr id="1" name=""/>
        <p:cNvGrpSpPr/>
        <p:nvPr/>
      </p:nvGrpSpPr>
      <p:grpSpPr/>
      <p:sp>
        <p:nvSpPr>
          <p:cNvPr id="2" name="TextBox 1"/>
          <p:cNvSpPr txBox="1"/>
          <p:nvPr/>
        </p:nvSpPr>
        <p:spPr>
          <a:xfrm>
            <a:off x="822960" y="502920"/>
            <a:ext cx="10515600" cy="457200"/>
          </a:xfrm>
          <a:prstGeom prst="rect">
            <a:avLst/>
          </a:prstGeom>
          <a:noFill/>
        </p:spPr>
        <p:txBody>
          <a:bodyPr wrap="square">
            <a:spAutoFit/>
          </a:bodyPr>
          <a:lstStyle/>
          <a:p>
            <a:pPr algn="l">
              <a:spcAft>
                <a:spcPts val="800"/>
              </a:spcAft>
            </a:pPr>
            <a:r>
              <a:rPr sz="1300" b="1" i="0">
                <a:solidFill>
                  <a:srgbClr val="9AA0B5"/>
                </a:solidFill>
                <a:latin typeface="Segoe UI"/>
              </a:rPr>
              <a:t>BACKUP · FOR Q&amp;A</a:t>
            </a:r>
          </a:p>
        </p:txBody>
      </p:sp>
      <p:sp>
        <p:nvSpPr>
          <p:cNvPr id="3" name="TextBox 2"/>
          <p:cNvSpPr txBox="1"/>
          <p:nvPr/>
        </p:nvSpPr>
        <p:spPr>
          <a:xfrm>
            <a:off x="822960" y="1024128"/>
            <a:ext cx="10515600" cy="1005840"/>
          </a:xfrm>
          <a:prstGeom prst="rect">
            <a:avLst/>
          </a:prstGeom>
          <a:noFill/>
        </p:spPr>
        <p:txBody>
          <a:bodyPr wrap="square">
            <a:spAutoFit/>
          </a:bodyPr>
          <a:lstStyle/>
          <a:p>
            <a:pPr algn="l">
              <a:lnSpc>
                <a:spcPct val="110000"/>
              </a:lnSpc>
              <a:spcAft>
                <a:spcPts val="800"/>
              </a:spcAft>
            </a:pPr>
            <a:r>
              <a:rPr sz="3000" b="1" i="0">
                <a:solidFill>
                  <a:srgbClr val="FFFFFF"/>
                </a:solidFill>
                <a:latin typeface="Segoe UI"/>
              </a:rPr>
              <a:t>Speed, precisely — </a:t>
            </a:r>
            <a:r>
              <a:rPr sz="3000" b="1" i="0">
                <a:solidFill>
                  <a:srgbClr val="E15759"/>
                </a:solidFill>
                <a:latin typeface="Segoe UI"/>
              </a:rPr>
              <a:t>decision vs. settlement</a:t>
            </a:r>
          </a:p>
        </p:txBody>
      </p:sp>
      <p:sp>
        <p:nvSpPr>
          <p:cNvPr id="4" name="TextBox 3"/>
          <p:cNvSpPr txBox="1"/>
          <p:nvPr/>
        </p:nvSpPr>
        <p:spPr>
          <a:xfrm>
            <a:off x="10058400" y="6355080"/>
            <a:ext cx="1280160" cy="365760"/>
          </a:xfrm>
          <a:prstGeom prst="rect">
            <a:avLst/>
          </a:prstGeom>
          <a:noFill/>
        </p:spPr>
        <p:txBody>
          <a:bodyPr wrap="square">
            <a:spAutoFit/>
          </a:bodyPr>
          <a:lstStyle/>
          <a:p>
            <a:pPr algn="r">
              <a:spcAft>
                <a:spcPts val="800"/>
              </a:spcAft>
            </a:pPr>
            <a:r>
              <a:rPr sz="1200" b="0" i="0">
                <a:solidFill>
                  <a:srgbClr val="5A5B70"/>
                </a:solidFill>
                <a:latin typeface="Segoe UI"/>
              </a:rPr>
              <a:t>B2</a:t>
            </a:r>
          </a:p>
        </p:txBody>
      </p:sp>
      <p:sp>
        <p:nvSpPr>
          <p:cNvPr id="5" name="TextBox 4"/>
          <p:cNvSpPr txBox="1"/>
          <p:nvPr/>
        </p:nvSpPr>
        <p:spPr>
          <a:xfrm>
            <a:off x="822960" y="2103120"/>
            <a:ext cx="10515600" cy="3108960"/>
          </a:xfrm>
          <a:prstGeom prst="rect">
            <a:avLst/>
          </a:prstGeom>
          <a:noFill/>
        </p:spPr>
        <p:txBody>
          <a:bodyPr wrap="square">
            <a:spAutoFit/>
          </a:bodyPr>
          <a:lstStyle/>
          <a:p>
            <a:pPr algn="l">
              <a:lnSpc>
                <a:spcPct val="125000"/>
              </a:lnSpc>
              <a:spcAft>
                <a:spcPts val="1200"/>
              </a:spcAft>
            </a:pPr>
            <a:r>
              <a:rPr sz="2000" b="0" i="0">
                <a:solidFill>
                  <a:srgbClr val="D7D8E6"/>
                </a:solidFill>
                <a:latin typeface="Segoe UI"/>
              </a:rPr>
              <a:t>•  Half the depositors </a:t>
            </a:r>
            <a:r>
              <a:rPr sz="2000" b="0" i="0">
                <a:solidFill>
                  <a:srgbClr val="FFFFFF"/>
                </a:solidFill>
                <a:latin typeface="Segoe UI"/>
              </a:rPr>
              <a:t>decide &amp; submit</a:t>
            </a:r>
            <a:r>
              <a:rPr sz="2000" b="0" i="0">
                <a:solidFill>
                  <a:srgbClr val="D7D8E6"/>
                </a:solidFill>
                <a:latin typeface="Segoe UI"/>
              </a:rPr>
              <a:t>:  AI ~5s · human ~15s  → ~3×</a:t>
            </a:r>
          </a:p>
          <a:p>
            <a:pPr algn="l">
              <a:lnSpc>
                <a:spcPct val="125000"/>
              </a:lnSpc>
              <a:spcAft>
                <a:spcPts val="1200"/>
              </a:spcAft>
            </a:pPr>
            <a:r>
              <a:rPr sz="2000" b="0" i="0">
                <a:solidFill>
                  <a:srgbClr val="D7D8E6"/>
                </a:solidFill>
                <a:latin typeface="Segoe UI"/>
              </a:rPr>
              <a:t>•  First withdrawal:  </a:t>
            </a:r>
            <a:r>
              <a:rPr sz="2000" b="0" i="0">
                <a:solidFill>
                  <a:srgbClr val="FFFFFF"/>
                </a:solidFill>
                <a:latin typeface="Segoe UI"/>
              </a:rPr>
              <a:t>AI ~2.5s · human ~5.5s</a:t>
            </a:r>
          </a:p>
          <a:p>
            <a:pPr algn="l">
              <a:lnSpc>
                <a:spcPct val="125000"/>
              </a:lnSpc>
              <a:spcAft>
                <a:spcPts val="1200"/>
              </a:spcAft>
            </a:pPr>
            <a:r>
              <a:rPr sz="2000" b="0" i="0">
                <a:solidFill>
                  <a:srgbClr val="D7D8E6"/>
                </a:solidFill>
                <a:latin typeface="Segoe UI"/>
              </a:rPr>
              <a:t>•  Bank </a:t>
            </a:r>
            <a:r>
              <a:rPr sz="2000" b="0" i="0">
                <a:solidFill>
                  <a:srgbClr val="FFFFFF"/>
                </a:solidFill>
                <a:latin typeface="Segoe UI"/>
              </a:rPr>
              <a:t>freezes</a:t>
            </a:r>
            <a:r>
              <a:rPr sz="2000" b="0" i="0">
                <a:solidFill>
                  <a:srgbClr val="D7D8E6"/>
                </a:solidFill>
                <a:latin typeface="Segoe UI"/>
              </a:rPr>
              <a:t>:  AI ~5s · human ~43s</a:t>
            </a:r>
          </a:p>
          <a:p>
            <a:pPr algn="l">
              <a:lnSpc>
                <a:spcPct val="125000"/>
              </a:lnSpc>
              <a:spcAft>
                <a:spcPts val="1200"/>
              </a:spcAft>
            </a:pPr>
            <a:r>
              <a:rPr sz="2000" b="0" i="0">
                <a:solidFill>
                  <a:srgbClr val="D7D8E6"/>
                </a:solidFill>
                <a:latin typeface="Segoe UI"/>
              </a:rPr>
              <a:t>•  Half the cash actually </a:t>
            </a:r>
            <a:r>
              <a:rPr sz="2000" b="0" i="0">
                <a:solidFill>
                  <a:srgbClr val="FFFFFF"/>
                </a:solidFill>
                <a:latin typeface="Segoe UI"/>
              </a:rPr>
              <a:t>settles</a:t>
            </a:r>
            <a:r>
              <a:rPr sz="2000" b="0" i="0">
                <a:solidFill>
                  <a:srgbClr val="D7D8E6"/>
                </a:solidFill>
                <a:latin typeface="Segoe UI"/>
              </a:rPr>
              <a:t>:  never — the bank froze first (both)</a:t>
            </a:r>
          </a:p>
          <a:p>
            <a:pPr algn="l">
              <a:lnSpc>
                <a:spcPct val="125000"/>
              </a:lnSpc>
              <a:spcAft>
                <a:spcPts val="1200"/>
              </a:spcAft>
            </a:pPr>
            <a:r>
              <a:rPr sz="2000" b="0" i="0">
                <a:solidFill>
                  <a:srgbClr val="D7D8E6"/>
                </a:solidFill>
                <a:latin typeface="Segoe UI"/>
              </a:rPr>
              <a:t>•  Got paid before the freeze:  </a:t>
            </a:r>
            <a:r>
              <a:rPr sz="2000" b="0" i="0">
                <a:solidFill>
                  <a:srgbClr val="FFFFFF"/>
                </a:solidFill>
                <a:latin typeface="Segoe UI"/>
              </a:rPr>
              <a:t>AI 5/12 · human 11/12</a:t>
            </a:r>
          </a:p>
        </p:txBody>
      </p:sp>
      <p:sp>
        <p:nvSpPr>
          <p:cNvPr id="6" name="TextBox 5"/>
          <p:cNvSpPr txBox="1"/>
          <p:nvPr/>
        </p:nvSpPr>
        <p:spPr>
          <a:xfrm>
            <a:off x="822960" y="5212080"/>
            <a:ext cx="10515600" cy="1005840"/>
          </a:xfrm>
          <a:prstGeom prst="rect">
            <a:avLst/>
          </a:prstGeom>
          <a:noFill/>
        </p:spPr>
        <p:txBody>
          <a:bodyPr wrap="square">
            <a:spAutoFit/>
          </a:bodyPr>
          <a:lstStyle/>
          <a:p>
            <a:pPr algn="l">
              <a:lnSpc>
                <a:spcPct val="130000"/>
              </a:lnSpc>
              <a:spcAft>
                <a:spcPts val="800"/>
              </a:spcAft>
            </a:pPr>
            <a:r>
              <a:rPr sz="1800" b="0" i="0">
                <a:solidFill>
                  <a:srgbClr val="FFFFFF"/>
                </a:solidFill>
                <a:latin typeface="Segoe UI"/>
              </a:rPr>
              <a:t>AI speeds the </a:t>
            </a:r>
            <a:r>
              <a:rPr sz="1800" b="0" i="0">
                <a:solidFill>
                  <a:srgbClr val="E15759"/>
                </a:solidFill>
                <a:latin typeface="Segoe UI"/>
              </a:rPr>
              <a:t>decision</a:t>
            </a:r>
            <a:r>
              <a:rPr sz="1800" b="0" i="0">
                <a:solidFill>
                  <a:srgbClr val="FFFFFF"/>
                </a:solidFill>
                <a:latin typeface="Segoe UI"/>
              </a:rPr>
              <a:t>, not the banking rail. Settlement is the same rate-limited rail for everyone — which is exactly why the faster request wave freezes the bank sooner and locks more people out.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51522"/>
        </a:solidFill>
        <a:effectLst/>
      </p:bgPr>
    </p:bg>
    <p:spTree>
      <p:nvGrpSpPr>
        <p:cNvPr id="1" name=""/>
        <p:cNvGrpSpPr/>
        <p:nvPr/>
      </p:nvGrpSpPr>
      <p:grpSpPr/>
      <p:sp>
        <p:nvSpPr>
          <p:cNvPr id="2" name="TextBox 1"/>
          <p:cNvSpPr txBox="1"/>
          <p:nvPr/>
        </p:nvSpPr>
        <p:spPr>
          <a:xfrm>
            <a:off x="822960" y="502920"/>
            <a:ext cx="10515600" cy="457200"/>
          </a:xfrm>
          <a:prstGeom prst="rect">
            <a:avLst/>
          </a:prstGeom>
          <a:noFill/>
        </p:spPr>
        <p:txBody>
          <a:bodyPr wrap="square">
            <a:spAutoFit/>
          </a:bodyPr>
          <a:lstStyle/>
          <a:p>
            <a:pPr algn="l">
              <a:spcAft>
                <a:spcPts val="800"/>
              </a:spcAft>
            </a:pPr>
            <a:r>
              <a:rPr sz="1300" b="1" i="0">
                <a:solidFill>
                  <a:srgbClr val="9AA0B5"/>
                </a:solidFill>
                <a:latin typeface="Segoe UI"/>
              </a:rPr>
              <a:t>BACKUP · FOR Q&amp;A</a:t>
            </a:r>
          </a:p>
        </p:txBody>
      </p:sp>
      <p:sp>
        <p:nvSpPr>
          <p:cNvPr id="3" name="TextBox 2"/>
          <p:cNvSpPr txBox="1"/>
          <p:nvPr/>
        </p:nvSpPr>
        <p:spPr>
          <a:xfrm>
            <a:off x="822960" y="1024128"/>
            <a:ext cx="10515600" cy="1005840"/>
          </a:xfrm>
          <a:prstGeom prst="rect">
            <a:avLst/>
          </a:prstGeom>
          <a:noFill/>
        </p:spPr>
        <p:txBody>
          <a:bodyPr wrap="square">
            <a:spAutoFit/>
          </a:bodyPr>
          <a:lstStyle/>
          <a:p>
            <a:pPr algn="l">
              <a:lnSpc>
                <a:spcPct val="110000"/>
              </a:lnSpc>
              <a:spcAft>
                <a:spcPts val="800"/>
              </a:spcAft>
            </a:pPr>
            <a:r>
              <a:rPr sz="3000" b="1" i="0">
                <a:solidFill>
                  <a:srgbClr val="FFFFFF"/>
                </a:solidFill>
                <a:latin typeface="Segoe UI"/>
              </a:rPr>
              <a:t>How the agents decide — </a:t>
            </a:r>
            <a:r>
              <a:rPr sz="3000" b="1" i="0">
                <a:solidFill>
                  <a:srgbClr val="E15759"/>
                </a:solidFill>
                <a:latin typeface="Segoe UI"/>
              </a:rPr>
              <a:t>not scripted</a:t>
            </a:r>
          </a:p>
        </p:txBody>
      </p:sp>
      <p:sp>
        <p:nvSpPr>
          <p:cNvPr id="4" name="TextBox 3"/>
          <p:cNvSpPr txBox="1"/>
          <p:nvPr/>
        </p:nvSpPr>
        <p:spPr>
          <a:xfrm>
            <a:off x="10058400" y="6355080"/>
            <a:ext cx="1280160" cy="365760"/>
          </a:xfrm>
          <a:prstGeom prst="rect">
            <a:avLst/>
          </a:prstGeom>
          <a:noFill/>
        </p:spPr>
        <p:txBody>
          <a:bodyPr wrap="square">
            <a:spAutoFit/>
          </a:bodyPr>
          <a:lstStyle/>
          <a:p>
            <a:pPr algn="r">
              <a:spcAft>
                <a:spcPts val="800"/>
              </a:spcAft>
            </a:pPr>
            <a:r>
              <a:rPr sz="1200" b="0" i="0">
                <a:solidFill>
                  <a:srgbClr val="5A5B70"/>
                </a:solidFill>
                <a:latin typeface="Segoe UI"/>
              </a:rPr>
              <a:t>B3</a:t>
            </a:r>
          </a:p>
        </p:txBody>
      </p:sp>
      <p:sp>
        <p:nvSpPr>
          <p:cNvPr id="5" name="TextBox 4"/>
          <p:cNvSpPr txBox="1"/>
          <p:nvPr/>
        </p:nvSpPr>
        <p:spPr>
          <a:xfrm>
            <a:off x="822960" y="2103120"/>
            <a:ext cx="10515600" cy="3840480"/>
          </a:xfrm>
          <a:prstGeom prst="rect">
            <a:avLst/>
          </a:prstGeom>
          <a:noFill/>
        </p:spPr>
        <p:txBody>
          <a:bodyPr wrap="square">
            <a:spAutoFit/>
          </a:bodyPr>
          <a:lstStyle/>
          <a:p>
            <a:pPr algn="l">
              <a:lnSpc>
                <a:spcPct val="125000"/>
              </a:lnSpc>
              <a:spcAft>
                <a:spcPts val="1400"/>
              </a:spcAft>
            </a:pPr>
            <a:r>
              <a:rPr sz="2000" b="0" i="0">
                <a:solidFill>
                  <a:srgbClr val="D7D8E6"/>
                </a:solidFill>
                <a:latin typeface="Segoe UI"/>
              </a:rPr>
              <a:t>•  Every decision is a </a:t>
            </a:r>
            <a:r>
              <a:rPr sz="2000" b="0" i="0">
                <a:solidFill>
                  <a:srgbClr val="FFFFFF"/>
                </a:solidFill>
                <a:latin typeface="Segoe UI"/>
              </a:rPr>
              <a:t>real LLM call</a:t>
            </a:r>
            <a:r>
              <a:rPr sz="2000" b="0" i="0">
                <a:solidFill>
                  <a:srgbClr val="D7D8E6"/>
                </a:solidFill>
                <a:latin typeface="Segoe UI"/>
              </a:rPr>
              <a:t> — persona + portfolio + what they observe in, structured action out. No utility function, no lookup table.</a:t>
            </a:r>
          </a:p>
          <a:p>
            <a:pPr algn="l">
              <a:lnSpc>
                <a:spcPct val="125000"/>
              </a:lnSpc>
              <a:spcAft>
                <a:spcPts val="1400"/>
              </a:spcAft>
            </a:pPr>
            <a:r>
              <a:rPr sz="2000" b="0" i="0">
                <a:solidFill>
                  <a:srgbClr val="D7D8E6"/>
                </a:solidFill>
                <a:latin typeface="Segoe UI"/>
              </a:rPr>
              <a:t>•  Each persona carries a </a:t>
            </a:r>
            <a:r>
              <a:rPr sz="2000" b="0" i="0">
                <a:solidFill>
                  <a:srgbClr val="FFFFFF"/>
                </a:solidFill>
                <a:latin typeface="Segoe UI"/>
              </a:rPr>
              <a:t>qualitative cost function</a:t>
            </a:r>
            <a:r>
              <a:rPr sz="2000" b="0" i="0">
                <a:solidFill>
                  <a:srgbClr val="D7D8E6"/>
                </a:solidFill>
                <a:latin typeface="Segoe UI"/>
              </a:rPr>
              <a:t>: “losing principal is catastrophic; an early-withdrawal fee is minor.” Never a numeric “withdraw if X” threshold.</a:t>
            </a:r>
          </a:p>
          <a:p>
            <a:pPr algn="l">
              <a:lnSpc>
                <a:spcPct val="125000"/>
              </a:lnSpc>
              <a:spcAft>
                <a:spcPts val="1400"/>
              </a:spcAft>
            </a:pPr>
            <a:r>
              <a:rPr sz="2000" b="0" i="0">
                <a:solidFill>
                  <a:srgbClr val="D7D8E6"/>
                </a:solidFill>
                <a:latin typeface="Segoe UI"/>
              </a:rPr>
              <a:t>•  We deliberately </a:t>
            </a:r>
            <a:r>
              <a:rPr sz="2000" b="0" i="0">
                <a:solidFill>
                  <a:srgbClr val="FFFFFF"/>
                </a:solidFill>
                <a:latin typeface="Segoe UI"/>
              </a:rPr>
              <a:t>don't tell them when to run</a:t>
            </a:r>
            <a:r>
              <a:rPr sz="2000" b="0" i="0">
                <a:solidFill>
                  <a:srgbClr val="D7D8E6"/>
                </a:solidFill>
                <a:latin typeface="Segoe UI"/>
              </a:rPr>
              <a:t> — the model weighs the judgment call.</a:t>
            </a:r>
          </a:p>
          <a:p>
            <a:pPr algn="l">
              <a:lnSpc>
                <a:spcPct val="125000"/>
              </a:lnSpc>
              <a:spcAft>
                <a:spcPts val="1400"/>
              </a:spcAft>
            </a:pPr>
            <a:r>
              <a:rPr sz="2000" b="0" i="0">
                <a:solidFill>
                  <a:srgbClr val="D7D8E6"/>
                </a:solidFill>
                <a:latin typeface="Segoe UI"/>
              </a:rPr>
              <a:t>•  Proof it isn't scripted: two agents of the </a:t>
            </a:r>
            <a:r>
              <a:rPr sz="2000" b="0" i="0">
                <a:solidFill>
                  <a:srgbClr val="FFFFFF"/>
                </a:solidFill>
                <a:latin typeface="Segoe UI"/>
              </a:rPr>
              <a:t>same archetype</a:t>
            </a:r>
            <a:r>
              <a:rPr sz="2000" b="0" i="0">
                <a:solidFill>
                  <a:srgbClr val="D7D8E6"/>
                </a:solidFill>
                <a:latin typeface="Segoe UI"/>
              </a:rPr>
              <a:t>, same data, reach opposite calls — visible in the Inspect 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51522"/>
        </a:solidFill>
        <a:effectLst/>
      </p:bgPr>
    </p:bg>
    <p:spTree>
      <p:nvGrpSpPr>
        <p:cNvPr id="1" name=""/>
        <p:cNvGrpSpPr/>
        <p:nvPr/>
      </p:nvGrpSpPr>
      <p:grpSpPr/>
      <p:sp>
        <p:nvSpPr>
          <p:cNvPr id="2" name="TextBox 1"/>
          <p:cNvSpPr txBox="1"/>
          <p:nvPr/>
        </p:nvSpPr>
        <p:spPr>
          <a:xfrm>
            <a:off x="822960" y="502920"/>
            <a:ext cx="10515600" cy="457200"/>
          </a:xfrm>
          <a:prstGeom prst="rect">
            <a:avLst/>
          </a:prstGeom>
          <a:noFill/>
        </p:spPr>
        <p:txBody>
          <a:bodyPr wrap="square">
            <a:spAutoFit/>
          </a:bodyPr>
          <a:lstStyle/>
          <a:p>
            <a:pPr algn="l">
              <a:spcAft>
                <a:spcPts val="800"/>
              </a:spcAft>
            </a:pPr>
            <a:r>
              <a:rPr sz="1300" b="1" i="0">
                <a:solidFill>
                  <a:srgbClr val="9AA0B5"/>
                </a:solidFill>
                <a:latin typeface="Segoe UI"/>
              </a:rPr>
              <a:t>BACKUP · FOR Q&amp;A</a:t>
            </a:r>
          </a:p>
        </p:txBody>
      </p:sp>
      <p:sp>
        <p:nvSpPr>
          <p:cNvPr id="3" name="TextBox 2"/>
          <p:cNvSpPr txBox="1"/>
          <p:nvPr/>
        </p:nvSpPr>
        <p:spPr>
          <a:xfrm>
            <a:off x="822960" y="1024128"/>
            <a:ext cx="10515600" cy="1005840"/>
          </a:xfrm>
          <a:prstGeom prst="rect">
            <a:avLst/>
          </a:prstGeom>
          <a:noFill/>
        </p:spPr>
        <p:txBody>
          <a:bodyPr wrap="square">
            <a:spAutoFit/>
          </a:bodyPr>
          <a:lstStyle/>
          <a:p>
            <a:pPr algn="l">
              <a:lnSpc>
                <a:spcPct val="110000"/>
              </a:lnSpc>
              <a:spcAft>
                <a:spcPts val="800"/>
              </a:spcAft>
            </a:pPr>
            <a:r>
              <a:rPr sz="3000" b="1" i="0">
                <a:solidFill>
                  <a:srgbClr val="FFFFFF"/>
                </a:solidFill>
                <a:latin typeface="Segoe UI"/>
              </a:rPr>
              <a:t>What else we found </a:t>
            </a:r>
            <a:r>
              <a:rPr sz="3000" b="1" i="0">
                <a:solidFill>
                  <a:srgbClr val="9AA0B5"/>
                </a:solidFill>
                <a:latin typeface="Segoe UI"/>
              </a:rPr>
              <a:t>(beyond the headline three)</a:t>
            </a:r>
          </a:p>
        </p:txBody>
      </p:sp>
      <p:sp>
        <p:nvSpPr>
          <p:cNvPr id="4" name="TextBox 3"/>
          <p:cNvSpPr txBox="1"/>
          <p:nvPr/>
        </p:nvSpPr>
        <p:spPr>
          <a:xfrm>
            <a:off x="10058400" y="6355080"/>
            <a:ext cx="1280160" cy="365760"/>
          </a:xfrm>
          <a:prstGeom prst="rect">
            <a:avLst/>
          </a:prstGeom>
          <a:noFill/>
        </p:spPr>
        <p:txBody>
          <a:bodyPr wrap="square">
            <a:spAutoFit/>
          </a:bodyPr>
          <a:lstStyle/>
          <a:p>
            <a:pPr algn="r">
              <a:spcAft>
                <a:spcPts val="800"/>
              </a:spcAft>
            </a:pPr>
            <a:r>
              <a:rPr sz="1200" b="0" i="0">
                <a:solidFill>
                  <a:srgbClr val="5A5B70"/>
                </a:solidFill>
                <a:latin typeface="Segoe UI"/>
              </a:rPr>
              <a:t>B4</a:t>
            </a:r>
          </a:p>
        </p:txBody>
      </p:sp>
      <p:sp>
        <p:nvSpPr>
          <p:cNvPr id="5" name="TextBox 4"/>
          <p:cNvSpPr txBox="1"/>
          <p:nvPr/>
        </p:nvSpPr>
        <p:spPr>
          <a:xfrm>
            <a:off x="822960" y="2103120"/>
            <a:ext cx="10515600" cy="3840480"/>
          </a:xfrm>
          <a:prstGeom prst="rect">
            <a:avLst/>
          </a:prstGeom>
          <a:noFill/>
        </p:spPr>
        <p:txBody>
          <a:bodyPr wrap="square">
            <a:spAutoFit/>
          </a:bodyPr>
          <a:lstStyle/>
          <a:p>
            <a:pPr algn="l">
              <a:lnSpc>
                <a:spcPct val="125000"/>
              </a:lnSpc>
              <a:spcAft>
                <a:spcPts val="1300"/>
              </a:spcAft>
            </a:pPr>
            <a:r>
              <a:rPr sz="1900" b="0" i="0">
                <a:solidFill>
                  <a:srgbClr val="E15759"/>
                </a:solidFill>
                <a:latin typeface="Segoe UI"/>
              </a:rPr>
              <a:t>•  </a:t>
            </a:r>
            <a:r>
              <a:rPr sz="1900" b="0" i="0">
                <a:solidFill>
                  <a:srgbClr val="FFFFFF"/>
                </a:solidFill>
                <a:latin typeface="Segoe UI"/>
              </a:rPr>
              <a:t>Credibility label ignored</a:t>
            </a:r>
            <a:r>
              <a:rPr sz="1900" b="0" i="0">
                <a:solidFill>
                  <a:srgbClr val="D7D8E6"/>
                </a:solidFill>
                <a:latin typeface="Segoe UI"/>
              </a:rPr>
              <a:t>: withdrawals don't track the stated % — and a rumor labelled just 5% credible still cascaded the bank (9/12 ran).</a:t>
            </a:r>
          </a:p>
          <a:p>
            <a:pPr algn="l">
              <a:lnSpc>
                <a:spcPct val="125000"/>
              </a:lnSpc>
              <a:spcAft>
                <a:spcPts val="1300"/>
              </a:spcAft>
            </a:pPr>
            <a:r>
              <a:rPr sz="1900" b="0" i="0">
                <a:solidFill>
                  <a:srgbClr val="E15759"/>
                </a:solidFill>
                <a:latin typeface="Segoe UI"/>
              </a:rPr>
              <a:t>•  </a:t>
            </a:r>
            <a:r>
              <a:rPr sz="1900" b="0" i="0">
                <a:solidFill>
                  <a:srgbClr val="FFFFFF"/>
                </a:solidFill>
                <a:latin typeface="Segoe UI"/>
              </a:rPr>
              <a:t>Homogeneity amplifies</a:t>
            </a:r>
            <a:r>
              <a:rPr sz="1900" b="0" i="0">
                <a:solidFill>
                  <a:srgbClr val="D7D8E6"/>
                </a:solidFill>
                <a:latin typeface="Segoe UI"/>
              </a:rPr>
              <a:t>: all-retiree and all-treasurer populations cascade harder than a mixed one — disagreement absorbs the panic.</a:t>
            </a:r>
          </a:p>
          <a:p>
            <a:pPr algn="l">
              <a:lnSpc>
                <a:spcPct val="125000"/>
              </a:lnSpc>
              <a:spcAft>
                <a:spcPts val="1300"/>
              </a:spcAft>
            </a:pPr>
            <a:r>
              <a:rPr sz="1900" b="0" i="0">
                <a:solidFill>
                  <a:srgbClr val="E15759"/>
                </a:solidFill>
                <a:latin typeface="Segoe UI"/>
              </a:rPr>
              <a:t>•  </a:t>
            </a:r>
            <a:r>
              <a:rPr sz="1900" b="0" i="0">
                <a:solidFill>
                  <a:srgbClr val="FFFFFF"/>
                </a:solidFill>
                <a:latin typeface="Segoe UI"/>
              </a:rPr>
              <a:t>Overconfident when wrong</a:t>
            </a:r>
            <a:r>
              <a:rPr sz="1900" b="0" i="0">
                <a:solidFill>
                  <a:srgbClr val="D7D8E6"/>
                </a:solidFill>
                <a:latin typeface="Segoe UI"/>
              </a:rPr>
              <a:t>: agents were just as sure fleeing a healthy bank as when they were right — confidence is not a safety signal.</a:t>
            </a:r>
          </a:p>
          <a:p>
            <a:pPr algn="l">
              <a:lnSpc>
                <a:spcPct val="125000"/>
              </a:lnSpc>
              <a:spcAft>
                <a:spcPts val="1300"/>
              </a:spcAft>
            </a:pPr>
            <a:r>
              <a:rPr sz="1900" b="0" i="0">
                <a:solidFill>
                  <a:srgbClr val="E15759"/>
                </a:solidFill>
                <a:latin typeface="Segoe UI"/>
              </a:rPr>
              <a:t>•  </a:t>
            </a:r>
            <a:r>
              <a:rPr sz="1900" b="0" i="0">
                <a:solidFill>
                  <a:srgbClr val="FFFFFF"/>
                </a:solidFill>
                <a:latin typeface="Segoe UI"/>
              </a:rPr>
              <a:t>Walk-back differs by model</a:t>
            </a:r>
            <a:r>
              <a:rPr sz="1900" b="0" i="0">
                <a:solidFill>
                  <a:srgbClr val="D7D8E6"/>
                </a:solidFill>
                <a:latin typeface="Segoe UI"/>
              </a:rPr>
              <a:t>: GPT locks its panic in (0% reversal); Claude reconsiders and reverses ~50% — same doubt, opposite follow-through.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51522"/>
        </a:solidFill>
        <a:effectLst/>
      </p:bgPr>
    </p:bg>
    <p:spTree>
      <p:nvGrpSpPr>
        <p:cNvPr id="1" name=""/>
        <p:cNvGrpSpPr/>
        <p:nvPr/>
      </p:nvGrpSpPr>
      <p:grpSpPr/>
      <p:sp>
        <p:nvSpPr>
          <p:cNvPr id="2" name="TextBox 1"/>
          <p:cNvSpPr txBox="1"/>
          <p:nvPr/>
        </p:nvSpPr>
        <p:spPr>
          <a:xfrm>
            <a:off x="822960" y="502920"/>
            <a:ext cx="10515600" cy="457200"/>
          </a:xfrm>
          <a:prstGeom prst="rect">
            <a:avLst/>
          </a:prstGeom>
          <a:noFill/>
        </p:spPr>
        <p:txBody>
          <a:bodyPr wrap="square">
            <a:spAutoFit/>
          </a:bodyPr>
          <a:lstStyle/>
          <a:p>
            <a:pPr algn="l">
              <a:spcAft>
                <a:spcPts val="800"/>
              </a:spcAft>
            </a:pPr>
            <a:r>
              <a:rPr sz="1300" b="1" i="0">
                <a:solidFill>
                  <a:srgbClr val="9AA0B5"/>
                </a:solidFill>
                <a:latin typeface="Segoe UI"/>
              </a:rPr>
              <a:t>BACKUP · FOR Q&amp;A</a:t>
            </a:r>
          </a:p>
        </p:txBody>
      </p:sp>
      <p:sp>
        <p:nvSpPr>
          <p:cNvPr id="3" name="TextBox 2"/>
          <p:cNvSpPr txBox="1"/>
          <p:nvPr/>
        </p:nvSpPr>
        <p:spPr>
          <a:xfrm>
            <a:off x="822960" y="1024128"/>
            <a:ext cx="10515600" cy="1005840"/>
          </a:xfrm>
          <a:prstGeom prst="rect">
            <a:avLst/>
          </a:prstGeom>
          <a:noFill/>
        </p:spPr>
        <p:txBody>
          <a:bodyPr wrap="square">
            <a:spAutoFit/>
          </a:bodyPr>
          <a:lstStyle/>
          <a:p>
            <a:pPr algn="l">
              <a:lnSpc>
                <a:spcPct val="110000"/>
              </a:lnSpc>
              <a:spcAft>
                <a:spcPts val="800"/>
              </a:spcAft>
            </a:pPr>
            <a:r>
              <a:rPr sz="3000" b="1" i="0">
                <a:solidFill>
                  <a:srgbClr val="FFFFFF"/>
                </a:solidFill>
                <a:latin typeface="Segoe UI"/>
              </a:rPr>
              <a:t>How it's built</a:t>
            </a:r>
          </a:p>
        </p:txBody>
      </p:sp>
      <p:sp>
        <p:nvSpPr>
          <p:cNvPr id="4" name="TextBox 3"/>
          <p:cNvSpPr txBox="1"/>
          <p:nvPr/>
        </p:nvSpPr>
        <p:spPr>
          <a:xfrm>
            <a:off x="10058400" y="6355080"/>
            <a:ext cx="1280160" cy="365760"/>
          </a:xfrm>
          <a:prstGeom prst="rect">
            <a:avLst/>
          </a:prstGeom>
          <a:noFill/>
        </p:spPr>
        <p:txBody>
          <a:bodyPr wrap="square">
            <a:spAutoFit/>
          </a:bodyPr>
          <a:lstStyle/>
          <a:p>
            <a:pPr algn="r">
              <a:spcAft>
                <a:spcPts val="800"/>
              </a:spcAft>
            </a:pPr>
            <a:r>
              <a:rPr sz="1200" b="0" i="0">
                <a:solidFill>
                  <a:srgbClr val="5A5B70"/>
                </a:solidFill>
                <a:latin typeface="Segoe UI"/>
              </a:rPr>
              <a:t>B5</a:t>
            </a:r>
          </a:p>
        </p:txBody>
      </p:sp>
      <p:sp>
        <p:nvSpPr>
          <p:cNvPr id="5" name="TextBox 4"/>
          <p:cNvSpPr txBox="1"/>
          <p:nvPr/>
        </p:nvSpPr>
        <p:spPr>
          <a:xfrm>
            <a:off x="822960" y="2103120"/>
            <a:ext cx="10515600" cy="3840480"/>
          </a:xfrm>
          <a:prstGeom prst="rect">
            <a:avLst/>
          </a:prstGeom>
          <a:noFill/>
        </p:spPr>
        <p:txBody>
          <a:bodyPr wrap="square">
            <a:spAutoFit/>
          </a:bodyPr>
          <a:lstStyle/>
          <a:p>
            <a:pPr algn="l">
              <a:lnSpc>
                <a:spcPct val="125000"/>
              </a:lnSpc>
              <a:spcAft>
                <a:spcPts val="1400"/>
              </a:spcAft>
            </a:pPr>
            <a:r>
              <a:rPr sz="2000" b="0" i="0">
                <a:solidFill>
                  <a:srgbClr val="E15759"/>
                </a:solidFill>
                <a:latin typeface="Segoe UI"/>
              </a:rPr>
              <a:t>•  </a:t>
            </a:r>
            <a:r>
              <a:rPr sz="2000" b="0" i="0">
                <a:solidFill>
                  <a:srgbClr val="FFFFFF"/>
                </a:solidFill>
                <a:latin typeface="Segoe UI"/>
              </a:rPr>
              <a:t>Event-driven engine</a:t>
            </a:r>
            <a:r>
              <a:rPr sz="2000" b="0" i="0">
                <a:solidFill>
                  <a:srgbClr val="D7D8E6"/>
                </a:solidFill>
                <a:latin typeface="Segoe UI"/>
              </a:rPr>
              <a:t> (heapq queue), ~12 agents, async LLM calls fanned out so a full run is seconds, not minutes.</a:t>
            </a:r>
          </a:p>
          <a:p>
            <a:pPr algn="l">
              <a:lnSpc>
                <a:spcPct val="125000"/>
              </a:lnSpc>
              <a:spcAft>
                <a:spcPts val="1400"/>
              </a:spcAft>
            </a:pPr>
            <a:r>
              <a:rPr sz="2000" b="0" i="0">
                <a:solidFill>
                  <a:srgbClr val="E15759"/>
                </a:solidFill>
                <a:latin typeface="Segoe UI"/>
              </a:rPr>
              <a:t>•  </a:t>
            </a:r>
            <a:r>
              <a:rPr sz="2000" b="0" i="0">
                <a:solidFill>
                  <a:srgbClr val="FFFFFF"/>
                </a:solidFill>
                <a:latin typeface="Segoe UI"/>
              </a:rPr>
              <a:t>OpenRouter</a:t>
            </a:r>
            <a:r>
              <a:rPr sz="2000" b="0" i="0">
                <a:solidFill>
                  <a:srgbClr val="D7D8E6"/>
                </a:solidFill>
                <a:latin typeface="Segoe UI"/>
              </a:rPr>
              <a:t> (OpenAI-compatible) — lets us swap the underlying model; Haiku for routine decisions, Sonnet for strategic moments.</a:t>
            </a:r>
          </a:p>
          <a:p>
            <a:pPr algn="l">
              <a:lnSpc>
                <a:spcPct val="125000"/>
              </a:lnSpc>
              <a:spcAft>
                <a:spcPts val="1400"/>
              </a:spcAft>
            </a:pPr>
            <a:r>
              <a:rPr sz="2000" b="0" i="0">
                <a:solidFill>
                  <a:srgbClr val="E15759"/>
                </a:solidFill>
                <a:latin typeface="Segoe UI"/>
              </a:rPr>
              <a:t>•  </a:t>
            </a:r>
            <a:r>
              <a:rPr sz="2000" b="0" i="0">
                <a:solidFill>
                  <a:srgbClr val="FFFFFF"/>
                </a:solidFill>
                <a:latin typeface="Segoe UI"/>
              </a:rPr>
              <a:t>Every decision is a structured tool call, fully logged</a:t>
            </a:r>
            <a:r>
              <a:rPr sz="2000" b="0" i="0">
                <a:solidFill>
                  <a:srgbClr val="D7D8E6"/>
                </a:solidFill>
                <a:latin typeface="Segoe UI"/>
              </a:rPr>
              <a:t> — that log is the Inspect view and the audit trail.</a:t>
            </a:r>
          </a:p>
          <a:p>
            <a:pPr algn="l">
              <a:lnSpc>
                <a:spcPct val="125000"/>
              </a:lnSpc>
              <a:spcAft>
                <a:spcPts val="1400"/>
              </a:spcAft>
            </a:pPr>
            <a:r>
              <a:rPr sz="2000" b="0" i="0">
                <a:solidFill>
                  <a:srgbClr val="E15759"/>
                </a:solidFill>
                <a:latin typeface="Segoe UI"/>
              </a:rPr>
              <a:t>•  </a:t>
            </a:r>
            <a:r>
              <a:rPr sz="2000" b="0" i="0">
                <a:solidFill>
                  <a:srgbClr val="FFFFFF"/>
                </a:solidFill>
                <a:latin typeface="Segoe UI"/>
              </a:rPr>
              <a:t>Runs saved as JSON</a:t>
            </a:r>
            <a:r>
              <a:rPr sz="2000" b="0" i="0">
                <a:solidFill>
                  <a:srgbClr val="D7D8E6"/>
                </a:solidFill>
                <a:latin typeface="Segoe UI"/>
              </a:rPr>
              <a:t>, replayable; cost is </a:t>
            </a:r>
            <a:r>
              <a:rPr sz="2000" b="0" i="0">
                <a:solidFill>
                  <a:srgbClr val="FFFFFF"/>
                </a:solidFill>
                <a:latin typeface="Segoe UI"/>
              </a:rPr>
              <a:t>under $1 per run.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1522"/>
        </a:solidFill>
        <a:effectLst/>
      </p:bgPr>
    </p:bg>
    <p:spTree>
      <p:nvGrpSpPr>
        <p:cNvPr id="1" name=""/>
        <p:cNvGrpSpPr/>
        <p:nvPr/>
      </p:nvGrpSpPr>
      <p:grpSpPr/>
      <p:sp>
        <p:nvSpPr>
          <p:cNvPr id="2" name="TextBox 1"/>
          <p:cNvSpPr txBox="1"/>
          <p:nvPr/>
        </p:nvSpPr>
        <p:spPr>
          <a:xfrm>
            <a:off x="822960" y="502920"/>
            <a:ext cx="10515600" cy="457200"/>
          </a:xfrm>
          <a:prstGeom prst="rect">
            <a:avLst/>
          </a:prstGeom>
          <a:noFill/>
        </p:spPr>
        <p:txBody>
          <a:bodyPr wrap="square">
            <a:spAutoFit/>
          </a:bodyPr>
          <a:lstStyle/>
          <a:p>
            <a:pPr algn="l">
              <a:spcAft>
                <a:spcPts val="800"/>
              </a:spcAft>
            </a:pPr>
            <a:r>
              <a:rPr sz="1300" b="1" i="0">
                <a:solidFill>
                  <a:srgbClr val="9AA0B5"/>
                </a:solidFill>
                <a:latin typeface="Segoe UI"/>
              </a:rPr>
              <a:t>BACKUP · FOR Q&amp;A</a:t>
            </a:r>
          </a:p>
        </p:txBody>
      </p:sp>
      <p:sp>
        <p:nvSpPr>
          <p:cNvPr id="3" name="TextBox 2"/>
          <p:cNvSpPr txBox="1"/>
          <p:nvPr/>
        </p:nvSpPr>
        <p:spPr>
          <a:xfrm>
            <a:off x="822960" y="1024128"/>
            <a:ext cx="10515600" cy="1005840"/>
          </a:xfrm>
          <a:prstGeom prst="rect">
            <a:avLst/>
          </a:prstGeom>
          <a:noFill/>
        </p:spPr>
        <p:txBody>
          <a:bodyPr wrap="square">
            <a:spAutoFit/>
          </a:bodyPr>
          <a:lstStyle/>
          <a:p>
            <a:pPr algn="l">
              <a:lnSpc>
                <a:spcPct val="110000"/>
              </a:lnSpc>
              <a:spcAft>
                <a:spcPts val="800"/>
              </a:spcAft>
            </a:pPr>
            <a:r>
              <a:rPr sz="3000" b="1" i="0">
                <a:solidFill>
                  <a:srgbClr val="FFFFFF"/>
                </a:solidFill>
                <a:latin typeface="Segoe UI"/>
              </a:rPr>
              <a:t>Empirical anchors (scale, not targets)</a:t>
            </a:r>
          </a:p>
        </p:txBody>
      </p:sp>
      <p:sp>
        <p:nvSpPr>
          <p:cNvPr id="4" name="TextBox 3"/>
          <p:cNvSpPr txBox="1"/>
          <p:nvPr/>
        </p:nvSpPr>
        <p:spPr>
          <a:xfrm>
            <a:off x="10058400" y="6355080"/>
            <a:ext cx="1280160" cy="365760"/>
          </a:xfrm>
          <a:prstGeom prst="rect">
            <a:avLst/>
          </a:prstGeom>
          <a:noFill/>
        </p:spPr>
        <p:txBody>
          <a:bodyPr wrap="square">
            <a:spAutoFit/>
          </a:bodyPr>
          <a:lstStyle/>
          <a:p>
            <a:pPr algn="r">
              <a:spcAft>
                <a:spcPts val="800"/>
              </a:spcAft>
            </a:pPr>
            <a:r>
              <a:rPr sz="1200" b="0" i="0">
                <a:solidFill>
                  <a:srgbClr val="5A5B70"/>
                </a:solidFill>
                <a:latin typeface="Segoe UI"/>
              </a:rPr>
              <a:t>B6</a:t>
            </a:r>
          </a:p>
        </p:txBody>
      </p:sp>
      <p:sp>
        <p:nvSpPr>
          <p:cNvPr id="5" name="TextBox 4"/>
          <p:cNvSpPr txBox="1"/>
          <p:nvPr/>
        </p:nvSpPr>
        <p:spPr>
          <a:xfrm>
            <a:off x="822960" y="2103120"/>
            <a:ext cx="10515600" cy="3108960"/>
          </a:xfrm>
          <a:prstGeom prst="rect">
            <a:avLst/>
          </a:prstGeom>
          <a:noFill/>
        </p:spPr>
        <p:txBody>
          <a:bodyPr wrap="square">
            <a:spAutoFit/>
          </a:bodyPr>
          <a:lstStyle/>
          <a:p>
            <a:pPr algn="l">
              <a:lnSpc>
                <a:spcPct val="125000"/>
              </a:lnSpc>
              <a:spcAft>
                <a:spcPts val="1400"/>
              </a:spcAft>
            </a:pPr>
            <a:r>
              <a:rPr sz="2000" b="0" i="0">
                <a:solidFill>
                  <a:srgbClr val="E15759"/>
                </a:solidFill>
                <a:latin typeface="Segoe UI"/>
              </a:rPr>
              <a:t>•  </a:t>
            </a:r>
            <a:r>
              <a:rPr sz="2000" b="0" i="0">
                <a:solidFill>
                  <a:srgbClr val="FFFFFF"/>
                </a:solidFill>
                <a:latin typeface="Segoe UI"/>
              </a:rPr>
              <a:t>SVB, March 2023</a:t>
            </a:r>
            <a:r>
              <a:rPr sz="2000" b="0" i="0">
                <a:solidFill>
                  <a:srgbClr val="D7D8E6"/>
                </a:solidFill>
                <a:latin typeface="Segoe UI"/>
              </a:rPr>
              <a:t>: $42B withdrawn in a single day — fastest run in modern history; depositors were networked startups watching the same feeds.</a:t>
            </a:r>
          </a:p>
          <a:p>
            <a:pPr algn="l">
              <a:lnSpc>
                <a:spcPct val="125000"/>
              </a:lnSpc>
              <a:spcAft>
                <a:spcPts val="1400"/>
              </a:spcAft>
            </a:pPr>
            <a:r>
              <a:rPr sz="2000" b="0" i="0">
                <a:solidFill>
                  <a:srgbClr val="E15759"/>
                </a:solidFill>
                <a:latin typeface="Segoe UI"/>
              </a:rPr>
              <a:t>•  </a:t>
            </a:r>
            <a:r>
              <a:rPr sz="2000" b="0" i="0">
                <a:solidFill>
                  <a:srgbClr val="FFFFFF"/>
                </a:solidFill>
                <a:latin typeface="Segoe UI"/>
              </a:rPr>
              <a:t>Iyer &amp; Puri (2012)</a:t>
            </a:r>
            <a:r>
              <a:rPr sz="2000" b="0" i="0">
                <a:solidFill>
                  <a:srgbClr val="D7D8E6"/>
                </a:solidFill>
                <a:latin typeface="Segoe UI"/>
              </a:rPr>
              <a:t>: in a real run, only ~3–7% of depositors withdrawing can threaten a bank — you never need a majority.</a:t>
            </a:r>
          </a:p>
        </p:txBody>
      </p:sp>
      <p:sp>
        <p:nvSpPr>
          <p:cNvPr id="6" name="TextBox 5"/>
          <p:cNvSpPr txBox="1"/>
          <p:nvPr/>
        </p:nvSpPr>
        <p:spPr>
          <a:xfrm>
            <a:off x="822960" y="4937760"/>
            <a:ext cx="10515600" cy="914400"/>
          </a:xfrm>
          <a:prstGeom prst="rect">
            <a:avLst/>
          </a:prstGeom>
          <a:noFill/>
        </p:spPr>
        <p:txBody>
          <a:bodyPr wrap="square">
            <a:spAutoFit/>
          </a:bodyPr>
          <a:lstStyle/>
          <a:p>
            <a:pPr algn="l">
              <a:lnSpc>
                <a:spcPct val="130000"/>
              </a:lnSpc>
              <a:spcAft>
                <a:spcPts val="800"/>
              </a:spcAft>
            </a:pPr>
            <a:r>
              <a:rPr sz="1800" b="0" i="0">
                <a:solidFill>
                  <a:srgbClr val="FFFFFF"/>
                </a:solidFill>
                <a:latin typeface="Segoe UI"/>
              </a:rPr>
              <a:t>We use these for a sense of scale — </a:t>
            </a:r>
            <a:r>
              <a:rPr sz="1800" b="0" i="0">
                <a:solidFill>
                  <a:srgbClr val="E15759"/>
                </a:solidFill>
                <a:latin typeface="Segoe UI"/>
              </a:rPr>
              <a:t>not</a:t>
            </a:r>
            <a:r>
              <a:rPr sz="1800" b="0" i="0">
                <a:solidFill>
                  <a:srgbClr val="FFFFFF"/>
                </a:solidFill>
                <a:latin typeface="Segoe UI"/>
              </a:rPr>
              <a:t> as calibration targets. We're characterizing a simulation, not forecasting a real bank.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51522"/>
        </a:solidFill>
        <a:effectLst/>
      </p:bgPr>
    </p:bg>
    <p:spTree>
      <p:nvGrpSpPr>
        <p:cNvPr id="1" name=""/>
        <p:cNvGrpSpPr/>
        <p:nvPr/>
      </p:nvGrpSpPr>
      <p:grpSpPr/>
      <p:sp>
        <p:nvSpPr>
          <p:cNvPr id="2" name="TextBox 1"/>
          <p:cNvSpPr txBox="1"/>
          <p:nvPr/>
        </p:nvSpPr>
        <p:spPr>
          <a:xfrm>
            <a:off x="822960" y="502920"/>
            <a:ext cx="10515600" cy="457200"/>
          </a:xfrm>
          <a:prstGeom prst="rect">
            <a:avLst/>
          </a:prstGeom>
          <a:noFill/>
        </p:spPr>
        <p:txBody>
          <a:bodyPr wrap="square">
            <a:spAutoFit/>
          </a:bodyPr>
          <a:lstStyle/>
          <a:p>
            <a:pPr algn="l">
              <a:spcAft>
                <a:spcPts val="800"/>
              </a:spcAft>
            </a:pPr>
            <a:r>
              <a:rPr sz="1300" b="1" i="0">
                <a:solidFill>
                  <a:srgbClr val="9AA0B5"/>
                </a:solidFill>
                <a:latin typeface="Segoe UI"/>
              </a:rPr>
              <a:t>BACKUP · FOR Q&amp;A</a:t>
            </a:r>
          </a:p>
        </p:txBody>
      </p:sp>
      <p:sp>
        <p:nvSpPr>
          <p:cNvPr id="3" name="TextBox 2"/>
          <p:cNvSpPr txBox="1"/>
          <p:nvPr/>
        </p:nvSpPr>
        <p:spPr>
          <a:xfrm>
            <a:off x="822960" y="1024128"/>
            <a:ext cx="10515600" cy="1005840"/>
          </a:xfrm>
          <a:prstGeom prst="rect">
            <a:avLst/>
          </a:prstGeom>
          <a:noFill/>
        </p:spPr>
        <p:txBody>
          <a:bodyPr wrap="square">
            <a:spAutoFit/>
          </a:bodyPr>
          <a:lstStyle/>
          <a:p>
            <a:pPr algn="l">
              <a:lnSpc>
                <a:spcPct val="110000"/>
              </a:lnSpc>
              <a:spcAft>
                <a:spcPts val="800"/>
              </a:spcAft>
            </a:pPr>
            <a:r>
              <a:rPr sz="3000" b="1" i="0">
                <a:solidFill>
                  <a:srgbClr val="FFFFFF"/>
                </a:solidFill>
                <a:latin typeface="Segoe UI"/>
              </a:rPr>
              <a:t>Scope &amp; limitations </a:t>
            </a:r>
            <a:r>
              <a:rPr sz="3000" b="1" i="0">
                <a:solidFill>
                  <a:srgbClr val="9AA0B5"/>
                </a:solidFill>
                <a:latin typeface="Segoe UI"/>
              </a:rPr>
              <a:t>(what we don't claim)</a:t>
            </a:r>
          </a:p>
        </p:txBody>
      </p:sp>
      <p:sp>
        <p:nvSpPr>
          <p:cNvPr id="4" name="TextBox 3"/>
          <p:cNvSpPr txBox="1"/>
          <p:nvPr/>
        </p:nvSpPr>
        <p:spPr>
          <a:xfrm>
            <a:off x="10058400" y="6355080"/>
            <a:ext cx="1280160" cy="365760"/>
          </a:xfrm>
          <a:prstGeom prst="rect">
            <a:avLst/>
          </a:prstGeom>
          <a:noFill/>
        </p:spPr>
        <p:txBody>
          <a:bodyPr wrap="square">
            <a:spAutoFit/>
          </a:bodyPr>
          <a:lstStyle/>
          <a:p>
            <a:pPr algn="r">
              <a:spcAft>
                <a:spcPts val="800"/>
              </a:spcAft>
            </a:pPr>
            <a:r>
              <a:rPr sz="1200" b="0" i="0">
                <a:solidFill>
                  <a:srgbClr val="5A5B70"/>
                </a:solidFill>
                <a:latin typeface="Segoe UI"/>
              </a:rPr>
              <a:t>B7</a:t>
            </a:r>
          </a:p>
        </p:txBody>
      </p:sp>
      <p:sp>
        <p:nvSpPr>
          <p:cNvPr id="5" name="TextBox 4"/>
          <p:cNvSpPr txBox="1"/>
          <p:nvPr/>
        </p:nvSpPr>
        <p:spPr>
          <a:xfrm>
            <a:off x="822960" y="2103120"/>
            <a:ext cx="10515600" cy="3840480"/>
          </a:xfrm>
          <a:prstGeom prst="rect">
            <a:avLst/>
          </a:prstGeom>
          <a:noFill/>
        </p:spPr>
        <p:txBody>
          <a:bodyPr wrap="square">
            <a:spAutoFit/>
          </a:bodyPr>
          <a:lstStyle/>
          <a:p>
            <a:pPr algn="l">
              <a:lnSpc>
                <a:spcPct val="125000"/>
              </a:lnSpc>
              <a:spcAft>
                <a:spcPts val="1300"/>
              </a:spcAft>
            </a:pPr>
            <a:r>
              <a:rPr sz="2000" b="0" i="0">
                <a:solidFill>
                  <a:srgbClr val="E15759"/>
                </a:solidFill>
                <a:latin typeface="Segoe UI"/>
              </a:rPr>
              <a:t>•  </a:t>
            </a:r>
            <a:r>
              <a:rPr sz="2000" b="0" i="0">
                <a:solidFill>
                  <a:srgbClr val="FFFFFF"/>
                </a:solidFill>
                <a:latin typeface="Segoe UI"/>
              </a:rPr>
              <a:t>12 agents, 2 banks, simplified mechanics</a:t>
            </a:r>
            <a:r>
              <a:rPr sz="2000" b="0" i="0">
                <a:solidFill>
                  <a:srgbClr val="D7D8E6"/>
                </a:solidFill>
                <a:latin typeface="Segoe UI"/>
              </a:rPr>
              <a:t> — a controlled probe, not a market model.</a:t>
            </a:r>
          </a:p>
          <a:p>
            <a:pPr algn="l">
              <a:lnSpc>
                <a:spcPct val="125000"/>
              </a:lnSpc>
              <a:spcAft>
                <a:spcPts val="1300"/>
              </a:spcAft>
            </a:pPr>
            <a:r>
              <a:rPr sz="2000" b="0" i="0">
                <a:solidFill>
                  <a:srgbClr val="E15759"/>
                </a:solidFill>
                <a:latin typeface="Segoe UI"/>
              </a:rPr>
              <a:t>•  </a:t>
            </a:r>
            <a:r>
              <a:rPr sz="2000" b="0" i="0">
                <a:solidFill>
                  <a:srgbClr val="FFFFFF"/>
                </a:solidFill>
                <a:latin typeface="Segoe UI"/>
              </a:rPr>
              <a:t>Some findings are single-pair probes</a:t>
            </a:r>
            <a:r>
              <a:rPr sz="2000" b="0" i="0">
                <a:solidFill>
                  <a:srgbClr val="D7D8E6"/>
                </a:solidFill>
                <a:latin typeface="Segoe UI"/>
              </a:rPr>
              <a:t> (esp. the Central Bank) — labelled as probes, not statistics.</a:t>
            </a:r>
          </a:p>
          <a:p>
            <a:pPr algn="l">
              <a:lnSpc>
                <a:spcPct val="125000"/>
              </a:lnSpc>
              <a:spcAft>
                <a:spcPts val="1300"/>
              </a:spcAft>
            </a:pPr>
            <a:r>
              <a:rPr sz="2000" b="0" i="0">
                <a:solidFill>
                  <a:srgbClr val="E15759"/>
                </a:solidFill>
                <a:latin typeface="Segoe UI"/>
              </a:rPr>
              <a:t>•  </a:t>
            </a:r>
            <a:r>
              <a:rPr sz="2000" b="0" i="0">
                <a:solidFill>
                  <a:srgbClr val="FFFFFF"/>
                </a:solidFill>
                <a:latin typeface="Segoe UI"/>
              </a:rPr>
              <a:t>LLM calls are non-deterministic</a:t>
            </a:r>
            <a:r>
              <a:rPr sz="2000" b="0" i="0">
                <a:solidFill>
                  <a:srgbClr val="D7D8E6"/>
                </a:solidFill>
                <a:latin typeface="Segoe UI"/>
              </a:rPr>
              <a:t> — we characterize patterns and re-run, rather than report a point estimate.</a:t>
            </a:r>
          </a:p>
          <a:p>
            <a:pPr algn="l">
              <a:lnSpc>
                <a:spcPct val="125000"/>
              </a:lnSpc>
              <a:spcAft>
                <a:spcPts val="1300"/>
              </a:spcAft>
            </a:pPr>
            <a:r>
              <a:rPr sz="2000" b="0" i="0">
                <a:solidFill>
                  <a:srgbClr val="E15759"/>
                </a:solidFill>
                <a:latin typeface="Segoe UI"/>
              </a:rPr>
              <a:t>•  </a:t>
            </a:r>
            <a:r>
              <a:rPr sz="2000" b="0" i="0">
                <a:solidFill>
                  <a:srgbClr val="FFFFFF"/>
                </a:solidFill>
                <a:latin typeface="Segoe UI"/>
              </a:rPr>
              <a:t>Not a forecast</a:t>
            </a:r>
            <a:r>
              <a:rPr sz="2000" b="0" i="0">
                <a:solidFill>
                  <a:srgbClr val="D7D8E6"/>
                </a:solidFill>
                <a:latin typeface="Segoe UI"/>
              </a:rPr>
              <a:t>: every claim is “in our simulation, these agents did X” — never “real bank runs will be 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51522"/>
        </a:solidFill>
        <a:effectLst/>
      </p:bgPr>
    </p:bg>
    <p:spTree>
      <p:nvGrpSpPr>
        <p:cNvPr id="1" name=""/>
        <p:cNvGrpSpPr/>
        <p:nvPr/>
      </p:nvGrpSpPr>
      <p:grpSpPr/>
      <p:sp>
        <p:nvSpPr>
          <p:cNvPr id="2" name="TextBox 1"/>
          <p:cNvSpPr txBox="1"/>
          <p:nvPr/>
        </p:nvSpPr>
        <p:spPr>
          <a:xfrm>
            <a:off x="822960" y="502920"/>
            <a:ext cx="10515600" cy="457200"/>
          </a:xfrm>
          <a:prstGeom prst="rect">
            <a:avLst/>
          </a:prstGeom>
          <a:noFill/>
        </p:spPr>
        <p:txBody>
          <a:bodyPr wrap="square">
            <a:spAutoFit/>
          </a:bodyPr>
          <a:lstStyle/>
          <a:p>
            <a:pPr algn="l">
              <a:spcAft>
                <a:spcPts val="800"/>
              </a:spcAft>
            </a:pPr>
            <a:r>
              <a:rPr sz="1300" b="1" i="0">
                <a:solidFill>
                  <a:srgbClr val="9AA0B5"/>
                </a:solidFill>
                <a:latin typeface="Segoe UI"/>
              </a:rPr>
              <a:t>BACKUP · FOR Q&amp;A</a:t>
            </a:r>
          </a:p>
        </p:txBody>
      </p:sp>
      <p:sp>
        <p:nvSpPr>
          <p:cNvPr id="3" name="TextBox 2"/>
          <p:cNvSpPr txBox="1"/>
          <p:nvPr/>
        </p:nvSpPr>
        <p:spPr>
          <a:xfrm>
            <a:off x="822960" y="1024128"/>
            <a:ext cx="10515600" cy="1005840"/>
          </a:xfrm>
          <a:prstGeom prst="rect">
            <a:avLst/>
          </a:prstGeom>
          <a:noFill/>
        </p:spPr>
        <p:txBody>
          <a:bodyPr wrap="square">
            <a:spAutoFit/>
          </a:bodyPr>
          <a:lstStyle/>
          <a:p>
            <a:pPr algn="l">
              <a:lnSpc>
                <a:spcPct val="110000"/>
              </a:lnSpc>
              <a:spcAft>
                <a:spcPts val="800"/>
              </a:spcAft>
            </a:pPr>
            <a:r>
              <a:rPr sz="3000" b="1" i="0">
                <a:solidFill>
                  <a:srgbClr val="FFFFFF"/>
                </a:solidFill>
                <a:latin typeface="Segoe UI"/>
              </a:rPr>
              <a:t>Central Bank detail — </a:t>
            </a:r>
            <a:r>
              <a:rPr sz="3000" b="1" i="0">
                <a:solidFill>
                  <a:srgbClr val="E15759"/>
                </a:solidFill>
                <a:latin typeface="Segoe UI"/>
              </a:rPr>
              <a:t>AI vs. rule-based</a:t>
            </a:r>
          </a:p>
        </p:txBody>
      </p:sp>
      <p:sp>
        <p:nvSpPr>
          <p:cNvPr id="4" name="TextBox 3"/>
          <p:cNvSpPr txBox="1"/>
          <p:nvPr/>
        </p:nvSpPr>
        <p:spPr>
          <a:xfrm>
            <a:off x="10058400" y="6355080"/>
            <a:ext cx="1280160" cy="365760"/>
          </a:xfrm>
          <a:prstGeom prst="rect">
            <a:avLst/>
          </a:prstGeom>
          <a:noFill/>
        </p:spPr>
        <p:txBody>
          <a:bodyPr wrap="square">
            <a:spAutoFit/>
          </a:bodyPr>
          <a:lstStyle/>
          <a:p>
            <a:pPr algn="r">
              <a:spcAft>
                <a:spcPts val="800"/>
              </a:spcAft>
            </a:pPr>
            <a:r>
              <a:rPr sz="1200" b="0" i="0">
                <a:solidFill>
                  <a:srgbClr val="5A5B70"/>
                </a:solidFill>
                <a:latin typeface="Segoe UI"/>
              </a:rPr>
              <a:t>B8</a:t>
            </a:r>
          </a:p>
        </p:txBody>
      </p:sp>
      <p:sp>
        <p:nvSpPr>
          <p:cNvPr id="5" name="TextBox 4"/>
          <p:cNvSpPr txBox="1"/>
          <p:nvPr/>
        </p:nvSpPr>
        <p:spPr>
          <a:xfrm>
            <a:off x="822960" y="2103120"/>
            <a:ext cx="10515600" cy="3291840"/>
          </a:xfrm>
          <a:prstGeom prst="rect">
            <a:avLst/>
          </a:prstGeom>
          <a:noFill/>
        </p:spPr>
        <p:txBody>
          <a:bodyPr wrap="square">
            <a:spAutoFit/>
          </a:bodyPr>
          <a:lstStyle/>
          <a:p>
            <a:pPr algn="l">
              <a:lnSpc>
                <a:spcPct val="125000"/>
              </a:lnSpc>
              <a:spcAft>
                <a:spcPts val="1300"/>
              </a:spcAft>
            </a:pPr>
            <a:r>
              <a:rPr sz="2000" b="0" i="0">
                <a:solidFill>
                  <a:srgbClr val="D7D8E6"/>
                </a:solidFill>
                <a:latin typeface="Segoe UI"/>
              </a:rPr>
              <a:t>•  False-alarm cascade (10/12 ran on a </a:t>
            </a:r>
            <a:r>
              <a:rPr sz="2000" b="0" i="0">
                <a:solidFill>
                  <a:srgbClr val="FFFFFF"/>
                </a:solidFill>
                <a:latin typeface="Segoe UI"/>
              </a:rPr>
              <a:t>healthy</a:t>
            </a:r>
            <a:r>
              <a:rPr sz="2000" b="0" i="0">
                <a:solidFill>
                  <a:srgbClr val="D7D8E6"/>
                </a:solidFill>
                <a:latin typeface="Segoe UI"/>
              </a:rPr>
              <a:t> bank), two regulators.</a:t>
            </a:r>
          </a:p>
          <a:p>
            <a:pPr algn="l">
              <a:lnSpc>
                <a:spcPct val="125000"/>
              </a:lnSpc>
              <a:spcAft>
                <a:spcPts val="1300"/>
              </a:spcAft>
            </a:pPr>
            <a:r>
              <a:rPr sz="2000" b="0" i="0">
                <a:solidFill>
                  <a:srgbClr val="E15759"/>
                </a:solidFill>
                <a:latin typeface="Segoe UI"/>
              </a:rPr>
              <a:t>•  </a:t>
            </a:r>
            <a:r>
              <a:rPr sz="2000" b="0" i="0">
                <a:solidFill>
                  <a:srgbClr val="FFFFFF"/>
                </a:solidFill>
                <a:latin typeface="Segoe UI"/>
              </a:rPr>
              <a:t>AI regulator</a:t>
            </a:r>
            <a:r>
              <a:rPr sz="2000" b="0" i="0">
                <a:solidFill>
                  <a:srgbClr val="D7D8E6"/>
                </a:solidFill>
                <a:latin typeface="Segoe UI"/>
              </a:rPr>
              <a:t>: read reserves (~30%) + that zero agents had actually withdrawn yet → chose </a:t>
            </a:r>
            <a:r>
              <a:rPr sz="2000" b="0" i="0">
                <a:solidFill>
                  <a:srgbClr val="FFFFFF"/>
                </a:solidFill>
                <a:latin typeface="Segoe UI"/>
              </a:rPr>
              <a:t>do nothing</a:t>
            </a:r>
            <a:r>
              <a:rPr sz="2000" b="0" i="0">
                <a:solidFill>
                  <a:srgbClr val="D7D8E6"/>
                </a:solidFill>
                <a:latin typeface="Segoe UI"/>
              </a:rPr>
              <a:t> — correctly.</a:t>
            </a:r>
          </a:p>
          <a:p>
            <a:pPr algn="l">
              <a:lnSpc>
                <a:spcPct val="125000"/>
              </a:lnSpc>
              <a:spcAft>
                <a:spcPts val="1300"/>
              </a:spcAft>
            </a:pPr>
            <a:r>
              <a:rPr sz="2000" b="0" i="0">
                <a:solidFill>
                  <a:srgbClr val="E15759"/>
                </a:solidFill>
                <a:latin typeface="Segoe UI"/>
              </a:rPr>
              <a:t>•  </a:t>
            </a:r>
            <a:r>
              <a:rPr sz="2000" b="0" i="0">
                <a:solidFill>
                  <a:srgbClr val="FFFFFF"/>
                </a:solidFill>
                <a:latin typeface="Segoe UI"/>
              </a:rPr>
              <a:t>Rule-based</a:t>
            </a:r>
            <a:r>
              <a:rPr sz="2000" b="0" i="0">
                <a:solidFill>
                  <a:srgbClr val="D7D8E6"/>
                </a:solidFill>
                <a:latin typeface="Segoe UI"/>
              </a:rPr>
              <a:t>: fired a blanket deposit guarantee regardless of bank health.</a:t>
            </a:r>
          </a:p>
        </p:txBody>
      </p:sp>
      <p:sp>
        <p:nvSpPr>
          <p:cNvPr id="6" name="TextBox 5"/>
          <p:cNvSpPr txBox="1"/>
          <p:nvPr/>
        </p:nvSpPr>
        <p:spPr>
          <a:xfrm>
            <a:off x="822960" y="5029200"/>
            <a:ext cx="10515600" cy="1005840"/>
          </a:xfrm>
          <a:prstGeom prst="rect">
            <a:avLst/>
          </a:prstGeom>
          <a:noFill/>
        </p:spPr>
        <p:txBody>
          <a:bodyPr wrap="square">
            <a:spAutoFit/>
          </a:bodyPr>
          <a:lstStyle/>
          <a:p>
            <a:pPr algn="l">
              <a:lnSpc>
                <a:spcPct val="130000"/>
              </a:lnSpc>
              <a:spcAft>
                <a:spcPts val="800"/>
              </a:spcAft>
            </a:pPr>
            <a:r>
              <a:rPr sz="1800" b="0" i="0">
                <a:solidFill>
                  <a:srgbClr val="FFFFFF"/>
                </a:solidFill>
                <a:latin typeface="Segoe UI"/>
              </a:rPr>
              <a:t>Caveat: a single pair of runs. The robust point isn't “AI is smarter” — it's that the cascade window is </a:t>
            </a:r>
            <a:r>
              <a:rPr sz="1800" b="0" i="0">
                <a:solidFill>
                  <a:srgbClr val="E15759"/>
                </a:solidFill>
                <a:latin typeface="Segoe UI"/>
              </a:rPr>
              <a:t>seconds</a:t>
            </a:r>
            <a:r>
              <a:rPr sz="1800" b="0" i="0">
                <a:solidFill>
                  <a:srgbClr val="FFFFFF"/>
                </a:solidFill>
                <a:latin typeface="Segoe UI"/>
              </a:rPr>
              <a:t>, so any human-paced regulator is too slow regardless.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